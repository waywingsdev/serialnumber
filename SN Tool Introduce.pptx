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76" r:id="rId6"/>
    <p:sldId id="269" r:id="rId7"/>
    <p:sldId id="273" r:id="rId8"/>
    <p:sldId id="266" r:id="rId9"/>
    <p:sldId id="259" r:id="rId10"/>
    <p:sldId id="260" r:id="rId11"/>
    <p:sldId id="261" r:id="rId12"/>
    <p:sldId id="262" r:id="rId13"/>
    <p:sldId id="263" r:id="rId14"/>
    <p:sldId id="264" r:id="rId15"/>
    <p:sldId id="267" r:id="rId16"/>
    <p:sldId id="268" r:id="rId17"/>
    <p:sldId id="274" r:id="rId18"/>
    <p:sldId id="275" r:id="rId19"/>
    <p:sldId id="277" r:id="rId20"/>
    <p:sldId id="271" r:id="rId21"/>
    <p:sldId id="272" r:id="rId22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88" autoAdjust="0"/>
  </p:normalViewPr>
  <p:slideViewPr>
    <p:cSldViewPr>
      <p:cViewPr varScale="1">
        <p:scale>
          <a:sx n="86" d="100"/>
          <a:sy n="86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1" descr="cover_b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74850"/>
            <a:ext cx="91630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6" descr="bar_white_bot"/>
          <p:cNvPicPr>
            <a:picLocks noChangeAspect="1" noChangeArrowheads="1"/>
          </p:cNvPicPr>
          <p:nvPr/>
        </p:nvPicPr>
        <p:blipFill>
          <a:blip r:embed="rId3" cstate="print"/>
          <a:srcRect b="1707"/>
          <a:stretch>
            <a:fillRect/>
          </a:stretch>
        </p:blipFill>
        <p:spPr bwMode="auto">
          <a:xfrm>
            <a:off x="0" y="5303838"/>
            <a:ext cx="9144000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8" descr="bar_white_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4" descr="bar_white_2"/>
          <p:cNvPicPr>
            <a:picLocks noChangeAspect="1" noChangeArrowheads="1"/>
          </p:cNvPicPr>
          <p:nvPr/>
        </p:nvPicPr>
        <p:blipFill>
          <a:blip r:embed="rId4" cstate="print"/>
          <a:srcRect l="47466" r="4236"/>
          <a:stretch>
            <a:fillRect/>
          </a:stretch>
        </p:blipFill>
        <p:spPr bwMode="auto">
          <a:xfrm>
            <a:off x="4178300" y="0"/>
            <a:ext cx="44164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9" descr="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60500" y="817563"/>
            <a:ext cx="37830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7567613" y="165100"/>
            <a:ext cx="1404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TW" sz="1400" b="1">
                <a:ea typeface="SimHei" pitchFamily="2" charset="-122"/>
              </a:rPr>
              <a:t>Internal Use</a:t>
            </a:r>
            <a:endParaRPr lang="zh-TW" altLang="en-US" sz="1400" b="1">
              <a:ea typeface="新細明體" pitchFamily="18" charset="-120"/>
            </a:endParaRPr>
          </a:p>
        </p:txBody>
      </p:sp>
      <p:pic>
        <p:nvPicPr>
          <p:cNvPr id="10" name="Picture 37" descr="bar_white_bot"/>
          <p:cNvPicPr>
            <a:picLocks noChangeAspect="1" noChangeArrowheads="1"/>
          </p:cNvPicPr>
          <p:nvPr/>
        </p:nvPicPr>
        <p:blipFill>
          <a:blip r:embed="rId3" cstate="print"/>
          <a:srcRect l="36562" r="27742" b="1707"/>
          <a:stretch>
            <a:fillRect/>
          </a:stretch>
        </p:blipFill>
        <p:spPr bwMode="auto">
          <a:xfrm>
            <a:off x="3151188" y="5303838"/>
            <a:ext cx="3263900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608013" y="6226175"/>
            <a:ext cx="2881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000">
                <a:solidFill>
                  <a:srgbClr val="777777"/>
                </a:solidFill>
                <a:ea typeface="SimHei" pitchFamily="2" charset="-122"/>
              </a:rPr>
              <a:t>Copyright © MediaTek</a:t>
            </a:r>
            <a:r>
              <a:rPr lang="en-US" altLang="zh-TW" sz="1000">
                <a:solidFill>
                  <a:srgbClr val="777777"/>
                </a:solidFill>
                <a:ea typeface="SimHei" pitchFamily="2" charset="-122"/>
              </a:rPr>
              <a:t> Inc. </a:t>
            </a:r>
            <a:r>
              <a:rPr lang="en-US" sz="1000">
                <a:solidFill>
                  <a:srgbClr val="777777"/>
                </a:solidFill>
                <a:ea typeface="SimHei" pitchFamily="2" charset="-122"/>
              </a:rPr>
              <a:t>All rights reserved</a:t>
            </a:r>
            <a:r>
              <a:rPr lang="en-US" altLang="zh-TW" sz="1000">
                <a:solidFill>
                  <a:srgbClr val="777777"/>
                </a:solidFill>
                <a:ea typeface="SimHei" pitchFamily="2" charset="-122"/>
              </a:rPr>
              <a:t>.</a:t>
            </a:r>
            <a:endParaRPr lang="en-US" sz="1000">
              <a:solidFill>
                <a:srgbClr val="777777"/>
              </a:solidFill>
              <a:ea typeface="SimHei" pitchFamily="2" charset="-122"/>
            </a:endParaRPr>
          </a:p>
        </p:txBody>
      </p:sp>
      <p:pic>
        <p:nvPicPr>
          <p:cNvPr id="12" name="Picture 38" descr="bar_white_bot"/>
          <p:cNvPicPr>
            <a:picLocks noChangeAspect="1" noChangeArrowheads="1"/>
          </p:cNvPicPr>
          <p:nvPr/>
        </p:nvPicPr>
        <p:blipFill>
          <a:blip r:embed="rId3" cstate="print"/>
          <a:srcRect t="95583"/>
          <a:stretch>
            <a:fillRect/>
          </a:stretch>
        </p:blipFill>
        <p:spPr bwMode="auto">
          <a:xfrm>
            <a:off x="0" y="6770688"/>
            <a:ext cx="9144000" cy="6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9563" y="2420938"/>
            <a:ext cx="8524875" cy="144145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9563" y="4079875"/>
            <a:ext cx="8524875" cy="1223963"/>
          </a:xfrm>
        </p:spPr>
        <p:txBody>
          <a:bodyPr/>
          <a:lstStyle>
            <a:lvl1pPr marL="0" indent="0" algn="ctr">
              <a:buFont typeface="Arial" pitchFamily="34" charset="0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C7C1D-31A2-472C-B66A-E60BF5DAF3D8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3FC1B-DA4C-494A-BD87-4CCBFBFB0D5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85BA5-A9D4-495D-B9E5-C016D51D686A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B30685-455F-49C3-9E6F-A404D39532C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7063" y="1123950"/>
            <a:ext cx="3951287" cy="4954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0750" y="1123950"/>
            <a:ext cx="3951288" cy="4954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9218A-620C-47F4-8E87-1F67DC416C78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1F70A-25F7-4815-91F5-F4D713F7019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39EE0-B588-4FA7-9BD7-1C4272A158D3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F4F20-F520-4FAC-9C0E-5FCEF9823E8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CBD7D-9B5F-4F86-A87D-9823E7816124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43C2A-35F8-4D45-86DC-B874C3837C3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676CB-F661-4443-8188-8A8346F9F754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B3AE7-EB6F-4F81-ABF0-CE266CCEEDF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7760AE-2AD9-4675-9DFE-D95A4D5FE532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1BE196-B61D-4BE9-9168-B24C571E60D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F9342-3689-4510-A444-A4E5A9EEBBB4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B9EAF-1336-4ECD-AB90-9521CCCAC93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1349A-CC95-4C4B-9015-F6ED95CDF77B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2E07C-65DB-4521-A2CE-E775E56AE11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84175"/>
            <a:ext cx="2014538" cy="56943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2300" y="384175"/>
            <a:ext cx="5892800" cy="56943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E2920-67CE-4227-A81B-C232DD4CE9CA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C51E0-1F66-4C02-958F-2025E0C5B75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0" y="384175"/>
            <a:ext cx="8059738" cy="6588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27063" y="1123950"/>
            <a:ext cx="8054975" cy="49545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4E9DF-EA8F-459C-AB4B-20398E90DA90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D1BA81-C330-4FA7-8228-AB0E63AFA8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0" y="384175"/>
            <a:ext cx="8059738" cy="6588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7063" y="1123950"/>
            <a:ext cx="3951287" cy="495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0750" y="1123950"/>
            <a:ext cx="3951288" cy="495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3F20D-221C-4AE8-A629-EF3B50EE8628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37DD4-F819-427C-9D78-AB9030E6809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9" descr="bar_logoc"/>
          <p:cNvPicPr>
            <a:picLocks noChangeAspect="1" noChangeArrowheads="1"/>
          </p:cNvPicPr>
          <p:nvPr/>
        </p:nvPicPr>
        <p:blipFill>
          <a:blip r:embed="rId15" cstate="print"/>
          <a:srcRect l="6937"/>
          <a:stretch>
            <a:fillRect/>
          </a:stretch>
        </p:blipFill>
        <p:spPr bwMode="auto">
          <a:xfrm>
            <a:off x="-20638" y="6237288"/>
            <a:ext cx="8913813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0" y="384175"/>
            <a:ext cx="8059738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Page Title: 32</a:t>
            </a:r>
            <a:r>
              <a:rPr lang="zh-CN" altLang="zh-TW" smtClean="0"/>
              <a:t> pt Arial</a:t>
            </a:r>
            <a:endParaRPr lang="en-US" altLang="ja-JP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7063" y="1123950"/>
            <a:ext cx="8054975" cy="495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Please use the following font and colors for your presentation.</a:t>
            </a:r>
          </a:p>
          <a:p>
            <a:pPr lvl="1"/>
            <a:r>
              <a:rPr lang="en-US" altLang="zh-TW" smtClean="0"/>
              <a:t>It is strongly recommended to use Arial for all areas of content. </a:t>
            </a:r>
          </a:p>
          <a:p>
            <a:pPr lvl="1"/>
            <a:r>
              <a:rPr lang="en-US" altLang="zh-TW" smtClean="0"/>
              <a:t>The following colors are recommended for various areas.</a:t>
            </a:r>
          </a:p>
          <a:p>
            <a:pPr lvl="2"/>
            <a:r>
              <a:rPr lang="en-US" altLang="zh-TW" smtClean="0"/>
              <a:t>Titles, subtitles and content: bold black.</a:t>
            </a:r>
          </a:p>
          <a:p>
            <a:pPr lvl="2"/>
            <a:r>
              <a:rPr lang="en-US" altLang="zh-TW" smtClean="0"/>
              <a:t>Support text: black, gray, blue and orange.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92500" y="6237288"/>
            <a:ext cx="8382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19BB0E53-A2F6-4308-90E6-005B277C2F16}" type="datetime1">
              <a:rPr lang="ja-JP" altLang="en-US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013" y="6232525"/>
            <a:ext cx="2881312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 altLang="zh-TW"/>
              <a:t>Copyright © MediaTek Inc. All rights reserved.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38638" y="6232525"/>
            <a:ext cx="46355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B328857C-CB37-4AAD-B199-2B7FDE33B38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7567613" y="165100"/>
            <a:ext cx="1404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TW" sz="1400" b="1">
                <a:ea typeface="SimHei" pitchFamily="2" charset="-122"/>
              </a:rPr>
              <a:t>Internal Use</a:t>
            </a:r>
            <a:endParaRPr lang="zh-TW" altLang="en-US" sz="1400" b="1">
              <a:ea typeface="新細明體" pitchFamily="18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50000"/>
        </a:spcBef>
        <a:spcAft>
          <a:spcPct val="0"/>
        </a:spcAft>
        <a:buClr>
          <a:srgbClr val="ED6D00"/>
        </a:buClr>
        <a:buFont typeface="Arial" pitchFamily="34" charset="0"/>
        <a:buChar char="▪"/>
        <a:defRPr kumimoji="1"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ED6D00"/>
        </a:buClr>
        <a:buSzPct val="95000"/>
        <a:buFont typeface="Arial" pitchFamily="34" charset="0"/>
        <a:buChar char="•"/>
        <a:defRPr kumimoji="1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ED6D00"/>
        </a:buClr>
        <a:buFont typeface="Arial" pitchFamily="34" charset="0"/>
        <a:buChar char="▪"/>
        <a:defRPr kumimoji="1" sz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ED6D00"/>
        </a:buClr>
        <a:buFont typeface="Arial" pitchFamily="34" charset="0"/>
        <a:buChar char="▪"/>
        <a:defRPr kumimoji="1" sz="12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ED6D00"/>
        </a:buClr>
        <a:buFont typeface="Arial" pitchFamily="34" charset="0"/>
        <a:buChar char="▪"/>
        <a:defRPr kumimoji="1" sz="12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ED6D00"/>
        </a:buClr>
        <a:buFont typeface="Arial" pitchFamily="34" charset="0"/>
        <a:buChar char="▪"/>
        <a:defRPr kumimoji="1" sz="12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ED6D00"/>
        </a:buClr>
        <a:buFont typeface="Arial" pitchFamily="34" charset="0"/>
        <a:buChar char="▪"/>
        <a:defRPr kumimoji="1" sz="12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SN Tool Introduce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5724525" y="5621338"/>
            <a:ext cx="3109913" cy="88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ctr">
              <a:spcBef>
                <a:spcPct val="20000"/>
              </a:spcBef>
            </a:pPr>
            <a:r>
              <a:rPr lang="en-US" altLang="zh-TW" sz="1400" dirty="0" smtClean="0"/>
              <a:t>2013/07/17</a:t>
            </a:r>
            <a:endParaRPr lang="en-US" altLang="zh-TW" sz="1400" dirty="0"/>
          </a:p>
          <a:p>
            <a:pPr algn="r" fontAlgn="ctr">
              <a:spcBef>
                <a:spcPct val="50000"/>
              </a:spcBef>
            </a:pPr>
            <a:r>
              <a:rPr lang="en-US" sz="1400" dirty="0"/>
              <a:t>Presenter</a:t>
            </a:r>
            <a:r>
              <a:rPr lang="en-US" altLang="zh-TW" sz="1400" dirty="0"/>
              <a:t> </a:t>
            </a:r>
            <a:r>
              <a:rPr lang="en-US" altLang="zh-TW" sz="1400" dirty="0" smtClean="0"/>
              <a:t>(Wenping Liu</a:t>
            </a:r>
            <a:r>
              <a:rPr lang="en-US" altLang="zh-TW" sz="1400" dirty="0" smtClean="0">
                <a:ea typeface="新細明體" charset="-120"/>
              </a:rPr>
              <a:t>)</a:t>
            </a:r>
            <a:endParaRPr lang="en-US" altLang="zh-TW" sz="1400" dirty="0">
              <a:ea typeface="新細明體" charset="-120"/>
            </a:endParaRPr>
          </a:p>
          <a:p>
            <a:pPr algn="r" fontAlgn="ctr">
              <a:spcBef>
                <a:spcPct val="20000"/>
              </a:spcBef>
            </a:pPr>
            <a:r>
              <a:rPr lang="en-US" sz="1400" dirty="0"/>
              <a:t>Department </a:t>
            </a:r>
            <a:r>
              <a:rPr lang="en-US" altLang="zh-TW" sz="1400" dirty="0" smtClean="0"/>
              <a:t>(</a:t>
            </a:r>
            <a:r>
              <a:rPr lang="en-US" sz="1400" dirty="0" smtClean="0"/>
              <a:t>ACS7/ST</a:t>
            </a:r>
            <a:r>
              <a:rPr lang="en-US" altLang="zh-TW" sz="1400" dirty="0" smtClean="0"/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Agenda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785794"/>
            <a:ext cx="8054975" cy="5572164"/>
          </a:xfrm>
        </p:spPr>
        <p:txBody>
          <a:bodyPr/>
          <a:lstStyle/>
          <a:p>
            <a:pPr>
              <a:buFont typeface="Wingdings" pitchFamily="2" charset="2"/>
              <a:buChar char="n"/>
            </a:pPr>
            <a:r>
              <a:rPr lang="en-US" altLang="zh-CN" sz="2000" dirty="0" smtClean="0">
                <a:solidFill>
                  <a:srgbClr val="0070C0"/>
                </a:solidFill>
              </a:rPr>
              <a:t>SN write option introduce</a:t>
            </a:r>
          </a:p>
          <a:p>
            <a:pPr lvl="1" indent="-180000"/>
            <a:r>
              <a:rPr lang="en-US" altLang="zh-CN" sz="1600" dirty="0" smtClean="0"/>
              <a:t>Barcode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IMEI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BT Address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Wi-Fi Mac Address</a:t>
            </a:r>
          </a:p>
          <a:p>
            <a:pPr lvl="1" indent="-180000"/>
            <a:r>
              <a:rPr lang="en-US" altLang="zh-CN" sz="1600" dirty="0" err="1" smtClean="0"/>
              <a:t>Hdcp</a:t>
            </a:r>
            <a:r>
              <a:rPr lang="en-US" altLang="zh-CN" sz="1600" dirty="0" smtClean="0"/>
              <a:t> &amp; </a:t>
            </a:r>
            <a:r>
              <a:rPr lang="en-US" altLang="zh-CN" sz="1600" dirty="0" err="1" smtClean="0"/>
              <a:t>Drm</a:t>
            </a:r>
            <a:r>
              <a:rPr lang="en-US" altLang="zh-CN" sz="1600" dirty="0" smtClean="0"/>
              <a:t> key</a:t>
            </a:r>
          </a:p>
          <a:p>
            <a:pPr lvl="1" indent="-180000"/>
            <a:r>
              <a:rPr lang="en-US" altLang="zh-CN" sz="1600" dirty="0" smtClean="0"/>
              <a:t>SN Tool special setting</a:t>
            </a:r>
          </a:p>
          <a:p>
            <a:pPr>
              <a:buFont typeface="Wingdings" pitchFamily="2" charset="2"/>
              <a:buChar char="n"/>
            </a:pPr>
            <a:r>
              <a:rPr lang="en-US" altLang="zh-CN" sz="2000" dirty="0" smtClean="0">
                <a:solidFill>
                  <a:srgbClr val="0070C0"/>
                </a:solidFill>
              </a:rPr>
              <a:t>New SN Tool UI</a:t>
            </a:r>
          </a:p>
          <a:p>
            <a:pPr lvl="1"/>
            <a:r>
              <a:rPr lang="en-US" altLang="zh-CN" sz="1600" dirty="0" smtClean="0">
                <a:solidFill>
                  <a:schemeClr val="tx2"/>
                </a:solidFill>
              </a:rPr>
              <a:t>SN Tool new main panel</a:t>
            </a:r>
          </a:p>
          <a:p>
            <a:pPr lvl="1"/>
            <a:r>
              <a:rPr lang="en-US" altLang="zh-CN" sz="1600" dirty="0" smtClean="0">
                <a:solidFill>
                  <a:schemeClr val="tx2"/>
                </a:solidFill>
              </a:rPr>
              <a:t>New UI Modify Item</a:t>
            </a:r>
          </a:p>
          <a:p>
            <a:pPr lvl="2" indent="-180000"/>
            <a:r>
              <a:rPr lang="en-US" altLang="zh-CN" sz="1600" dirty="0" smtClean="0">
                <a:solidFill>
                  <a:schemeClr val="tx2"/>
                </a:solidFill>
              </a:rPr>
              <a:t>Add Login Identify : </a:t>
            </a:r>
            <a:r>
              <a:rPr lang="en-US" altLang="zh-CN" sz="1600" dirty="0" smtClean="0">
                <a:solidFill>
                  <a:srgbClr val="FF0000"/>
                </a:solidFill>
              </a:rPr>
              <a:t>Engineer &amp; Operator</a:t>
            </a:r>
            <a:endParaRPr lang="en-US" altLang="zh-CN" sz="1600" dirty="0" smtClean="0">
              <a:solidFill>
                <a:schemeClr val="tx2"/>
              </a:solidFill>
            </a:endParaRPr>
          </a:p>
          <a:p>
            <a:pPr lvl="2" indent="-180000"/>
            <a:r>
              <a:rPr lang="en-US" altLang="zh-CN" sz="1600" dirty="0" smtClean="0">
                <a:solidFill>
                  <a:schemeClr val="tx2"/>
                </a:solidFill>
              </a:rPr>
              <a:t>System </a:t>
            </a:r>
            <a:r>
              <a:rPr lang="en-US" altLang="zh-CN" sz="1600" dirty="0" err="1" smtClean="0">
                <a:solidFill>
                  <a:schemeClr val="tx2"/>
                </a:solidFill>
              </a:rPr>
              <a:t>config</a:t>
            </a:r>
            <a:endParaRPr lang="en-US" altLang="zh-CN" sz="1600" dirty="0" smtClean="0">
              <a:solidFill>
                <a:schemeClr val="tx2"/>
              </a:solidFill>
            </a:endParaRPr>
          </a:p>
          <a:p>
            <a:pPr lvl="2" indent="-180000"/>
            <a:r>
              <a:rPr lang="en-US" altLang="zh-CN" sz="1600" dirty="0" smtClean="0">
                <a:solidFill>
                  <a:schemeClr val="tx2"/>
                </a:solidFill>
              </a:rPr>
              <a:t>Move some select option to menu</a:t>
            </a:r>
          </a:p>
          <a:p>
            <a:pPr lvl="2" indent="-180000"/>
            <a:r>
              <a:rPr lang="en-US" altLang="zh-CN" sz="1600" dirty="0" smtClean="0">
                <a:solidFill>
                  <a:schemeClr val="tx2"/>
                </a:solidFill>
              </a:rPr>
              <a:t>New scan data dialog</a:t>
            </a:r>
          </a:p>
          <a:p>
            <a:pPr>
              <a:buFont typeface="Wingdings" pitchFamily="2" charset="2"/>
              <a:buChar char="n"/>
            </a:pPr>
            <a:r>
              <a:rPr lang="en-US" altLang="zh-CN" sz="2000" dirty="0" smtClean="0">
                <a:solidFill>
                  <a:srgbClr val="0070C0"/>
                </a:solidFill>
              </a:rPr>
              <a:t>SN Tool write procedure example</a:t>
            </a:r>
          </a:p>
          <a:p>
            <a:pPr lvl="1">
              <a:buFont typeface="Arial" pitchFamily="34" charset="0"/>
              <a:buChar char="–"/>
            </a:pPr>
            <a:r>
              <a:rPr lang="en-US" altLang="zh-CN" sz="1600" dirty="0" smtClean="0"/>
              <a:t>Barcode &amp; IMEI(Meta Mode)</a:t>
            </a:r>
          </a:p>
          <a:p>
            <a:pPr lvl="1">
              <a:buFont typeface="Arial" pitchFamily="34" charset="0"/>
              <a:buChar char="–"/>
            </a:pPr>
            <a:r>
              <a:rPr lang="en-US" altLang="zh-CN" sz="1600" dirty="0" smtClean="0"/>
              <a:t>Barcode / IMEI / BT / Wi-Fi (Meta Mode)</a:t>
            </a:r>
          </a:p>
          <a:p>
            <a:pPr lvl="1">
              <a:buFont typeface="Arial" pitchFamily="34" charset="0"/>
              <a:buChar char="–"/>
            </a:pPr>
            <a:r>
              <a:rPr lang="en-US" altLang="zh-CN" sz="1600" dirty="0" err="1" smtClean="0"/>
              <a:t>Hdcp</a:t>
            </a:r>
            <a:r>
              <a:rPr lang="en-US" altLang="zh-CN" sz="1600" dirty="0" smtClean="0"/>
              <a:t> &amp; </a:t>
            </a:r>
            <a:r>
              <a:rPr lang="en-US" altLang="zh-CN" sz="1600" dirty="0" err="1" smtClean="0"/>
              <a:t>Drm</a:t>
            </a:r>
            <a:r>
              <a:rPr lang="en-US" altLang="zh-CN" sz="1600" dirty="0" smtClean="0"/>
              <a:t> key(Meta Mode)</a:t>
            </a:r>
          </a:p>
          <a:p>
            <a:pPr>
              <a:buFont typeface="Wingdings" pitchFamily="2" charset="2"/>
              <a:buChar char="n"/>
            </a:pPr>
            <a:r>
              <a:rPr lang="en-US" altLang="zh-CN" sz="2000" dirty="0" smtClean="0">
                <a:solidFill>
                  <a:srgbClr val="0070C0"/>
                </a:solidFill>
              </a:rPr>
              <a:t>How to debug when write fail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Copyright © </a:t>
            </a:r>
            <a:r>
              <a:rPr lang="en-US" altLang="zh-TW" dirty="0" err="1" smtClean="0"/>
              <a:t>MediaTek</a:t>
            </a:r>
            <a:r>
              <a:rPr lang="en-US" altLang="zh-TW" dirty="0" smtClean="0"/>
              <a:t> Inc. All rights reserved.</a:t>
            </a:r>
            <a:endParaRPr lang="en-US" altLang="zh-TW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SN write option introduce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269857"/>
            <a:ext cx="8786842" cy="658813"/>
          </a:xfrm>
        </p:spPr>
        <p:txBody>
          <a:bodyPr/>
          <a:lstStyle/>
          <a:p>
            <a:r>
              <a:rPr lang="en-US" altLang="zh-CN" sz="2800" dirty="0" smtClean="0"/>
              <a:t>Barcode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IMEI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BT Address 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Wi-Fi Mac Address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974742"/>
            <a:ext cx="8054975" cy="5526092"/>
          </a:xfrm>
        </p:spPr>
        <p:txBody>
          <a:bodyPr/>
          <a:lstStyle/>
          <a:p>
            <a:r>
              <a:rPr lang="en-US" altLang="zh-CN" sz="2000" dirty="0" smtClean="0">
                <a:solidFill>
                  <a:srgbClr val="0070C0"/>
                </a:solidFill>
              </a:rPr>
              <a:t>Barcode</a:t>
            </a:r>
          </a:p>
          <a:p>
            <a:pPr lvl="1"/>
            <a:r>
              <a:rPr lang="en-US" altLang="zh-CN" sz="1600" dirty="0" smtClean="0"/>
              <a:t>Production Serial Number for a PCBA,  is usually use to identify PCBA. Each </a:t>
            </a:r>
          </a:p>
          <a:p>
            <a:pPr lvl="1">
              <a:buNone/>
            </a:pPr>
            <a:r>
              <a:rPr lang="en-US" altLang="zh-CN" sz="1600" dirty="0" smtClean="0"/>
              <a:t>PCBA should  have a barcode number to  keep the its test item in production line.</a:t>
            </a:r>
          </a:p>
          <a:p>
            <a:pPr lvl="1"/>
            <a:r>
              <a:rPr lang="en-US" altLang="zh-CN" sz="1600" dirty="0" smtClean="0"/>
              <a:t>Barcode should be write to PCBA after download and </a:t>
            </a:r>
            <a:r>
              <a:rPr lang="en-US" altLang="zh-CN" sz="1600" dirty="0" smtClean="0">
                <a:solidFill>
                  <a:srgbClr val="FF0000"/>
                </a:solidFill>
              </a:rPr>
              <a:t>before  ATE calibration</a:t>
            </a:r>
            <a:r>
              <a:rPr lang="en-US" altLang="zh-CN" sz="1600" dirty="0" smtClean="0"/>
              <a:t>,</a:t>
            </a:r>
          </a:p>
          <a:p>
            <a:pPr lvl="1">
              <a:buNone/>
            </a:pPr>
            <a:r>
              <a:rPr lang="en-US" altLang="zh-CN" sz="1600" dirty="0" smtClean="0"/>
              <a:t> because in the calibration station, ATE Tool will write Calibration flag and NSFT</a:t>
            </a:r>
          </a:p>
          <a:p>
            <a:pPr lvl="1">
              <a:buNone/>
            </a:pPr>
            <a:r>
              <a:rPr lang="en-US" altLang="zh-CN" sz="1600" dirty="0" smtClean="0"/>
              <a:t>flag to barcode. If you rewrite use SN Tool, these flags will be cover.</a:t>
            </a:r>
          </a:p>
          <a:p>
            <a:pPr lvl="1"/>
            <a:r>
              <a:rPr lang="en-US" altLang="zh-CN" sz="1600" dirty="0" smtClean="0"/>
              <a:t>Support  </a:t>
            </a:r>
            <a:r>
              <a:rPr lang="en-US" altLang="zh-CN" sz="1600" dirty="0" smtClean="0">
                <a:solidFill>
                  <a:srgbClr val="FF0000"/>
                </a:solidFill>
              </a:rPr>
              <a:t>max 64  </a:t>
            </a:r>
            <a:r>
              <a:rPr lang="en-US" altLang="zh-CN" sz="1600" dirty="0" smtClean="0"/>
              <a:t>characters, composed of letters and numbers.</a:t>
            </a:r>
          </a:p>
          <a:p>
            <a:r>
              <a:rPr lang="en-US" altLang="zh-CN" sz="2000" dirty="0" smtClean="0">
                <a:solidFill>
                  <a:srgbClr val="0070C0"/>
                </a:solidFill>
              </a:rPr>
              <a:t>IMEI</a:t>
            </a:r>
          </a:p>
          <a:p>
            <a:pPr lvl="1"/>
            <a:r>
              <a:rPr lang="en-US" altLang="zh-CN" sz="1600" dirty="0" smtClean="0">
                <a:solidFill>
                  <a:srgbClr val="FF0000"/>
                </a:solidFill>
              </a:rPr>
              <a:t>I</a:t>
            </a:r>
            <a:r>
              <a:rPr lang="en-US" altLang="zh-CN" sz="1600" dirty="0" smtClean="0"/>
              <a:t>nternational </a:t>
            </a:r>
            <a:r>
              <a:rPr lang="en-US" altLang="zh-CN" sz="1600" dirty="0" smtClean="0">
                <a:solidFill>
                  <a:srgbClr val="FF0000"/>
                </a:solidFill>
              </a:rPr>
              <a:t>M</a:t>
            </a:r>
            <a:r>
              <a:rPr lang="en-US" altLang="zh-CN" sz="1600" dirty="0" smtClean="0"/>
              <a:t>obile </a:t>
            </a:r>
            <a:r>
              <a:rPr lang="en-US" altLang="zh-CN" sz="1600" dirty="0" smtClean="0">
                <a:solidFill>
                  <a:srgbClr val="FF0000"/>
                </a:solidFill>
              </a:rPr>
              <a:t>E</a:t>
            </a:r>
            <a:r>
              <a:rPr lang="en-US" altLang="zh-CN" sz="1600" dirty="0" smtClean="0"/>
              <a:t>quipment </a:t>
            </a:r>
            <a:r>
              <a:rPr lang="en-US" altLang="zh-CN" sz="1600" dirty="0" smtClean="0">
                <a:solidFill>
                  <a:srgbClr val="FF0000"/>
                </a:solidFill>
              </a:rPr>
              <a:t>I</a:t>
            </a:r>
            <a:r>
              <a:rPr lang="en-US" altLang="zh-CN" sz="1600" dirty="0" smtClean="0"/>
              <a:t>dentity, is a number unique to every GSM and WCDMA phone.</a:t>
            </a:r>
          </a:p>
          <a:p>
            <a:pPr lvl="1"/>
            <a:r>
              <a:rPr lang="en-US" altLang="zh-CN" sz="1600" dirty="0" smtClean="0"/>
              <a:t>Must be </a:t>
            </a:r>
            <a:r>
              <a:rPr lang="en-US" altLang="zh-CN" sz="1600" dirty="0" smtClean="0">
                <a:solidFill>
                  <a:srgbClr val="FF0000"/>
                </a:solidFill>
              </a:rPr>
              <a:t>15 decimal digits</a:t>
            </a:r>
            <a:r>
              <a:rPr lang="en-US" altLang="zh-CN" sz="1600" dirty="0" smtClean="0"/>
              <a:t>, 14 decimal digits + 1 checksum digit.</a:t>
            </a:r>
          </a:p>
          <a:p>
            <a:r>
              <a:rPr lang="en-US" altLang="zh-CN" sz="2000" dirty="0" smtClean="0">
                <a:solidFill>
                  <a:srgbClr val="0070C0"/>
                </a:solidFill>
              </a:rPr>
              <a:t>BT Address</a:t>
            </a:r>
          </a:p>
          <a:p>
            <a:pPr lvl="1"/>
            <a:r>
              <a:rPr lang="en-US" altLang="zh-CN" sz="1600" dirty="0" smtClean="0"/>
              <a:t>Must be </a:t>
            </a:r>
            <a:r>
              <a:rPr lang="en-US" altLang="zh-CN" sz="1600" dirty="0" smtClean="0">
                <a:solidFill>
                  <a:srgbClr val="FF0000"/>
                </a:solidFill>
              </a:rPr>
              <a:t>12</a:t>
            </a:r>
            <a:r>
              <a:rPr lang="en-US" altLang="zh-CN" sz="1600" dirty="0" smtClean="0"/>
              <a:t> characters, composed of letters(a - f or A - F) and numbers.</a:t>
            </a:r>
          </a:p>
          <a:p>
            <a:r>
              <a:rPr lang="en-US" altLang="zh-CN" sz="2000" dirty="0" smtClean="0">
                <a:solidFill>
                  <a:srgbClr val="0070C0"/>
                </a:solidFill>
              </a:rPr>
              <a:t>Wi-Fi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Mac Address</a:t>
            </a:r>
            <a:endParaRPr lang="en-US" altLang="zh-CN" sz="2000" dirty="0" smtClean="0"/>
          </a:p>
          <a:p>
            <a:pPr lvl="1"/>
            <a:r>
              <a:rPr lang="en-US" altLang="zh-CN" sz="1600" dirty="0" smtClean="0"/>
              <a:t>Must be </a:t>
            </a:r>
            <a:r>
              <a:rPr lang="en-US" altLang="zh-CN" sz="1600" dirty="0" smtClean="0">
                <a:solidFill>
                  <a:srgbClr val="FF0000"/>
                </a:solidFill>
              </a:rPr>
              <a:t>12</a:t>
            </a:r>
            <a:r>
              <a:rPr lang="en-US" altLang="zh-CN" sz="1600" dirty="0" smtClean="0"/>
              <a:t> characters, composed of letters(a - f or A - F) and numbers.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412733"/>
            <a:ext cx="8358246" cy="658813"/>
          </a:xfrm>
        </p:spPr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</a:rPr>
              <a:t>Hdcp</a:t>
            </a:r>
            <a:r>
              <a:rPr lang="en-US" altLang="zh-CN" dirty="0" smtClean="0">
                <a:solidFill>
                  <a:schemeClr val="tx1"/>
                </a:solidFill>
              </a:rPr>
              <a:t> &amp; </a:t>
            </a:r>
            <a:r>
              <a:rPr lang="en-US" altLang="zh-CN" dirty="0" err="1" smtClean="0">
                <a:solidFill>
                  <a:schemeClr val="tx1"/>
                </a:solidFill>
              </a:rPr>
              <a:t>Drm</a:t>
            </a:r>
            <a:r>
              <a:rPr lang="en-US" altLang="zh-CN" dirty="0" smtClean="0">
                <a:solidFill>
                  <a:schemeClr val="tx1"/>
                </a:solidFill>
              </a:rPr>
              <a:t> key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189056"/>
            <a:ext cx="8054975" cy="3811580"/>
          </a:xfrm>
        </p:spPr>
        <p:txBody>
          <a:bodyPr/>
          <a:lstStyle/>
          <a:p>
            <a:r>
              <a:rPr lang="en-US" altLang="zh-CN" sz="2000" dirty="0" err="1" smtClean="0">
                <a:solidFill>
                  <a:srgbClr val="0070C0"/>
                </a:solidFill>
              </a:rPr>
              <a:t>Hdcp</a:t>
            </a:r>
            <a:r>
              <a:rPr lang="en-US" altLang="zh-CN" sz="2000" dirty="0" smtClean="0">
                <a:solidFill>
                  <a:srgbClr val="0070C0"/>
                </a:solidFill>
              </a:rPr>
              <a:t> key</a:t>
            </a:r>
          </a:p>
          <a:p>
            <a:pPr lvl="1"/>
            <a:r>
              <a:rPr lang="en-US" altLang="zh-CN" sz="1600" dirty="0" smtClean="0">
                <a:solidFill>
                  <a:srgbClr val="FF0000"/>
                </a:solidFill>
              </a:rPr>
              <a:t>H</a:t>
            </a:r>
            <a:r>
              <a:rPr lang="en-US" altLang="zh-CN" sz="1600" dirty="0" smtClean="0"/>
              <a:t>igh-bandwidth </a:t>
            </a:r>
            <a:r>
              <a:rPr lang="en-US" altLang="zh-CN" sz="1600" dirty="0" smtClean="0">
                <a:solidFill>
                  <a:srgbClr val="FF0000"/>
                </a:solidFill>
              </a:rPr>
              <a:t>D</a:t>
            </a:r>
            <a:r>
              <a:rPr lang="en-US" altLang="zh-CN" sz="1600" dirty="0" smtClean="0"/>
              <a:t>igital </a:t>
            </a:r>
            <a:r>
              <a:rPr lang="en-US" altLang="zh-CN" sz="1600" dirty="0" smtClean="0">
                <a:solidFill>
                  <a:srgbClr val="FF0000"/>
                </a:solidFill>
              </a:rPr>
              <a:t>C</a:t>
            </a:r>
            <a:r>
              <a:rPr lang="en-US" altLang="zh-CN" sz="1600" dirty="0" smtClean="0"/>
              <a:t>ontent </a:t>
            </a:r>
            <a:r>
              <a:rPr lang="en-US" altLang="zh-CN" sz="1600" dirty="0" smtClean="0">
                <a:solidFill>
                  <a:srgbClr val="FF0000"/>
                </a:solidFill>
              </a:rPr>
              <a:t>P</a:t>
            </a:r>
            <a:r>
              <a:rPr lang="en-US" altLang="zh-CN" sz="1600" dirty="0" smtClean="0"/>
              <a:t>rotection, when users of illegal copying, the technology will be interference, reduce duplicated image quality, so as to protect the content. </a:t>
            </a:r>
          </a:p>
          <a:p>
            <a:pPr lvl="1"/>
            <a:r>
              <a:rPr lang="en-US" altLang="zh-CN" sz="1600" dirty="0" smtClean="0"/>
              <a:t>the </a:t>
            </a:r>
            <a:r>
              <a:rPr lang="en-US" altLang="zh-CN" sz="1600" dirty="0" err="1" smtClean="0"/>
              <a:t>hdcp</a:t>
            </a:r>
            <a:r>
              <a:rPr lang="en-US" altLang="zh-CN" sz="1600" dirty="0" smtClean="0"/>
              <a:t> key bin need purchased by customer.</a:t>
            </a:r>
          </a:p>
          <a:p>
            <a:pPr lvl="1"/>
            <a:r>
              <a:rPr lang="en-US" altLang="zh-CN" sz="1600" dirty="0" smtClean="0"/>
              <a:t>Write </a:t>
            </a:r>
            <a:r>
              <a:rPr lang="en-US" altLang="zh-CN" sz="1600" dirty="0" err="1" smtClean="0"/>
              <a:t>hdcp</a:t>
            </a:r>
            <a:r>
              <a:rPr lang="en-US" altLang="zh-CN" sz="1600" dirty="0" smtClean="0"/>
              <a:t> key need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Ap</a:t>
            </a:r>
            <a:r>
              <a:rPr lang="en-US" altLang="zh-CN" sz="1600" dirty="0" smtClean="0">
                <a:solidFill>
                  <a:srgbClr val="FF0000"/>
                </a:solidFill>
              </a:rPr>
              <a:t> database</a:t>
            </a:r>
            <a:r>
              <a:rPr lang="en-US" altLang="zh-CN" sz="1600" dirty="0" smtClean="0"/>
              <a:t>.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en-US" altLang="zh-CN" sz="2000" dirty="0" err="1" smtClean="0">
                <a:solidFill>
                  <a:srgbClr val="0070C0"/>
                </a:solidFill>
              </a:rPr>
              <a:t>Drm</a:t>
            </a:r>
            <a:r>
              <a:rPr lang="en-US" altLang="zh-CN" sz="2000" dirty="0" smtClean="0">
                <a:solidFill>
                  <a:srgbClr val="0070C0"/>
                </a:solidFill>
              </a:rPr>
              <a:t> key</a:t>
            </a:r>
          </a:p>
          <a:p>
            <a:pPr lvl="1"/>
            <a:r>
              <a:rPr lang="en-US" altLang="zh-CN" sz="1600" dirty="0" smtClean="0"/>
              <a:t>Some Digitized audio programs have Protection of digital programs authorized centers, so must have </a:t>
            </a:r>
            <a:r>
              <a:rPr lang="en-US" altLang="zh-CN" sz="1600" dirty="0" err="1" smtClean="0"/>
              <a:t>drm</a:t>
            </a:r>
            <a:r>
              <a:rPr lang="en-US" altLang="zh-CN" sz="1600" dirty="0" smtClean="0"/>
              <a:t> key when Broadcast program</a:t>
            </a:r>
          </a:p>
          <a:p>
            <a:pPr lvl="1"/>
            <a:r>
              <a:rPr lang="en-US" altLang="zh-CN" sz="1600" dirty="0" smtClean="0"/>
              <a:t>Write </a:t>
            </a:r>
            <a:r>
              <a:rPr lang="en-US" altLang="zh-CN" sz="1600" dirty="0" err="1" smtClean="0"/>
              <a:t>drm</a:t>
            </a:r>
            <a:r>
              <a:rPr lang="en-US" altLang="zh-CN" sz="1600" dirty="0" smtClean="0"/>
              <a:t> key don`t need any database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71414"/>
            <a:ext cx="8059738" cy="658813"/>
          </a:xfrm>
        </p:spPr>
        <p:txBody>
          <a:bodyPr/>
          <a:lstStyle/>
          <a:p>
            <a:pPr lvl="1"/>
            <a:r>
              <a:rPr lang="en-US" altLang="zh-CN" dirty="0" smtClean="0"/>
              <a:t>Special setting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52" y="785794"/>
            <a:ext cx="8786842" cy="5429288"/>
          </a:xfrm>
        </p:spPr>
        <p:txBody>
          <a:bodyPr/>
          <a:lstStyle/>
          <a:p>
            <a:r>
              <a:rPr lang="en-US" altLang="zh-CN" sz="2000" dirty="0" smtClean="0">
                <a:solidFill>
                  <a:srgbClr val="0070C0"/>
                </a:solidFill>
              </a:rPr>
              <a:t>SN Tool Menu - Option 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chemeClr val="tx2"/>
                </a:solidFill>
              </a:rPr>
              <a:t>Mode select</a:t>
            </a:r>
          </a:p>
          <a:p>
            <a:pPr lvl="2"/>
            <a:r>
              <a:rPr lang="en-US" altLang="zh-CN" sz="1600" dirty="0" smtClean="0">
                <a:solidFill>
                  <a:srgbClr val="0070C0"/>
                </a:solidFill>
              </a:rPr>
              <a:t>META  mode</a:t>
            </a:r>
          </a:p>
          <a:p>
            <a:pPr lvl="3"/>
            <a:r>
              <a:rPr lang="en-US" altLang="zh-CN" dirty="0" smtClean="0">
                <a:solidFill>
                  <a:schemeClr val="tx2"/>
                </a:solidFill>
              </a:rPr>
              <a:t>Target will enter META mode to write Barcode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IMEI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BT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Wi-Fi</a:t>
            </a:r>
          </a:p>
          <a:p>
            <a:pPr lvl="3"/>
            <a:r>
              <a:rPr lang="en-US" altLang="zh-CN" dirty="0" smtClean="0">
                <a:solidFill>
                  <a:srgbClr val="FF0000"/>
                </a:solidFill>
              </a:rPr>
              <a:t>Need select correct database file</a:t>
            </a:r>
          </a:p>
          <a:p>
            <a:pPr lvl="3"/>
            <a:r>
              <a:rPr lang="en-US" altLang="zh-CN" dirty="0" smtClean="0">
                <a:solidFill>
                  <a:schemeClr val="tx2"/>
                </a:solidFill>
              </a:rPr>
              <a:t>Support all Feature Phone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Smart Phone and </a:t>
            </a:r>
            <a:r>
              <a:rPr lang="en-US" altLang="zh-CN" dirty="0" err="1" smtClean="0">
                <a:solidFill>
                  <a:schemeClr val="tx2"/>
                </a:solidFill>
              </a:rPr>
              <a:t>Datacard</a:t>
            </a:r>
            <a:r>
              <a:rPr lang="en-US" altLang="zh-CN" dirty="0" smtClean="0">
                <a:solidFill>
                  <a:schemeClr val="tx2"/>
                </a:solidFill>
              </a:rPr>
              <a:t>  product</a:t>
            </a:r>
          </a:p>
          <a:p>
            <a:pPr lvl="2"/>
            <a:r>
              <a:rPr lang="en-US" altLang="zh-CN" sz="1600" dirty="0" smtClean="0">
                <a:solidFill>
                  <a:srgbClr val="0070C0"/>
                </a:solidFill>
              </a:rPr>
              <a:t>AT mode</a:t>
            </a:r>
          </a:p>
          <a:p>
            <a:pPr lvl="3"/>
            <a:r>
              <a:rPr lang="en-US" altLang="zh-CN" dirty="0" smtClean="0">
                <a:solidFill>
                  <a:schemeClr val="tx2"/>
                </a:solidFill>
              </a:rPr>
              <a:t>Target will </a:t>
            </a:r>
            <a:r>
              <a:rPr lang="en-US" altLang="zh-CN" b="1" dirty="0" smtClean="0">
                <a:solidFill>
                  <a:srgbClr val="FF0000"/>
                </a:solidFill>
              </a:rPr>
              <a:t>normal </a:t>
            </a:r>
            <a:r>
              <a:rPr lang="en-US" altLang="zh-CN" b="1" dirty="0" err="1" smtClean="0">
                <a:solidFill>
                  <a:srgbClr val="FF0000"/>
                </a:solidFill>
              </a:rPr>
              <a:t>bootup</a:t>
            </a:r>
            <a:r>
              <a:rPr lang="en-US" altLang="zh-CN" b="1" dirty="0" smtClean="0">
                <a:solidFill>
                  <a:schemeClr val="tx2"/>
                </a:solidFill>
              </a:rPr>
              <a:t> </a:t>
            </a:r>
            <a:r>
              <a:rPr lang="en-US" altLang="zh-CN" dirty="0" smtClean="0">
                <a:solidFill>
                  <a:schemeClr val="tx2"/>
                </a:solidFill>
              </a:rPr>
              <a:t>and use AT </a:t>
            </a:r>
            <a:r>
              <a:rPr lang="en-US" altLang="zh-CN" dirty="0" err="1" smtClean="0">
                <a:solidFill>
                  <a:schemeClr val="tx2"/>
                </a:solidFill>
              </a:rPr>
              <a:t>cmd</a:t>
            </a:r>
            <a:r>
              <a:rPr lang="en-US" altLang="zh-CN" dirty="0" smtClean="0">
                <a:solidFill>
                  <a:schemeClr val="tx2"/>
                </a:solidFill>
              </a:rPr>
              <a:t> to write Barcode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IMEI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BT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 Wi-Fi</a:t>
            </a:r>
          </a:p>
          <a:p>
            <a:pPr lvl="3"/>
            <a:r>
              <a:rPr lang="en-US" altLang="zh-CN" dirty="0" smtClean="0">
                <a:solidFill>
                  <a:srgbClr val="FF0000"/>
                </a:solidFill>
              </a:rPr>
              <a:t>Don`t need select database file</a:t>
            </a:r>
          </a:p>
          <a:p>
            <a:pPr lvl="3"/>
            <a:r>
              <a:rPr lang="en-US" altLang="zh-CN" dirty="0" smtClean="0">
                <a:solidFill>
                  <a:schemeClr val="tx2"/>
                </a:solidFill>
              </a:rPr>
              <a:t>Current </a:t>
            </a:r>
            <a:r>
              <a:rPr lang="en-US" altLang="zh-CN" dirty="0" smtClean="0">
                <a:solidFill>
                  <a:srgbClr val="FF0000"/>
                </a:solidFill>
              </a:rPr>
              <a:t>only support </a:t>
            </a:r>
            <a:r>
              <a:rPr lang="en-US" altLang="zh-CN" dirty="0" smtClean="0">
                <a:solidFill>
                  <a:schemeClr val="tx2"/>
                </a:solidFill>
              </a:rPr>
              <a:t>feature phone to write barcode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en-US" altLang="zh-CN" dirty="0" smtClean="0">
                <a:solidFill>
                  <a:schemeClr val="tx2"/>
                </a:solidFill>
              </a:rPr>
              <a:t>IMEI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err="1" smtClean="0">
                <a:solidFill>
                  <a:schemeClr val="tx2"/>
                </a:solidFill>
              </a:rPr>
              <a:t>FeaturePhone</a:t>
            </a:r>
            <a:r>
              <a:rPr lang="en-US" altLang="zh-CN" sz="1800" dirty="0" smtClean="0">
                <a:solidFill>
                  <a:schemeClr val="tx2"/>
                </a:solidFill>
              </a:rPr>
              <a:t> Option / AT_SDS</a:t>
            </a:r>
          </a:p>
          <a:p>
            <a:pPr lvl="2"/>
            <a:r>
              <a:rPr lang="en-US" altLang="zh-CN" sz="1400" dirty="0" smtClean="0">
                <a:solidFill>
                  <a:schemeClr val="tx2"/>
                </a:solidFill>
              </a:rPr>
              <a:t>Use AT mode and want to trigger backup data to SDS, need select  this option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err="1" smtClean="0">
                <a:solidFill>
                  <a:schemeClr val="tx2"/>
                </a:solidFill>
              </a:rPr>
              <a:t> Datacard</a:t>
            </a:r>
          </a:p>
          <a:p>
            <a:pPr lvl="2"/>
            <a:r>
              <a:rPr lang="en-US" altLang="zh-CN" sz="1400" dirty="0" smtClean="0">
                <a:solidFill>
                  <a:schemeClr val="tx2"/>
                </a:solidFill>
              </a:rPr>
              <a:t>For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Datacard</a:t>
            </a:r>
            <a:r>
              <a:rPr lang="en-US" altLang="zh-CN" sz="1400" dirty="0" smtClean="0">
                <a:solidFill>
                  <a:schemeClr val="tx2"/>
                </a:solidFill>
              </a:rPr>
              <a:t> product, enable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USBSwitchTool</a:t>
            </a:r>
            <a:endParaRPr lang="en-US" altLang="zh-CN" sz="1400" dirty="0" smtClean="0">
              <a:solidFill>
                <a:schemeClr val="tx2"/>
              </a:solidFill>
            </a:endParaRP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err="1" smtClean="0">
                <a:solidFill>
                  <a:schemeClr val="tx2"/>
                </a:solidFill>
              </a:rPr>
              <a:t>External Modem</a:t>
            </a:r>
          </a:p>
          <a:p>
            <a:pPr lvl="2"/>
            <a:r>
              <a:rPr lang="en-US" altLang="zh-CN" sz="1400" dirty="0" smtClean="0">
                <a:solidFill>
                  <a:schemeClr val="tx2"/>
                </a:solidFill>
              </a:rPr>
              <a:t>For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DualTalk</a:t>
            </a:r>
            <a:r>
              <a:rPr lang="en-US" altLang="zh-CN" sz="1400" dirty="0" smtClean="0">
                <a:solidFill>
                  <a:schemeClr val="tx2"/>
                </a:solidFill>
              </a:rPr>
              <a:t> project, enable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preloader</a:t>
            </a:r>
            <a:r>
              <a:rPr lang="en-US" altLang="zh-CN" sz="1400" dirty="0" smtClean="0">
                <a:solidFill>
                  <a:schemeClr val="tx2"/>
                </a:solidFill>
              </a:rPr>
              <a:t>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comPort</a:t>
            </a:r>
            <a:r>
              <a:rPr lang="en-US" altLang="zh-CN" sz="1400" dirty="0" smtClean="0">
                <a:solidFill>
                  <a:schemeClr val="tx2"/>
                </a:solidFill>
              </a:rPr>
              <a:t> switch to single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comPort</a:t>
            </a:r>
            <a:endParaRPr lang="en-US" altLang="zh-CN" sz="1400" dirty="0" smtClean="0">
              <a:solidFill>
                <a:schemeClr val="tx2"/>
              </a:solidFill>
            </a:endParaRP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err="1" smtClean="0">
                <a:solidFill>
                  <a:schemeClr val="tx2"/>
                </a:solidFill>
              </a:rPr>
              <a:t>SP Security USB</a:t>
            </a:r>
          </a:p>
          <a:p>
            <a:pPr lvl="2"/>
            <a:r>
              <a:rPr lang="en-US" altLang="zh-CN" sz="1400" dirty="0" smtClean="0">
                <a:solidFill>
                  <a:schemeClr val="tx2"/>
                </a:solidFill>
              </a:rPr>
              <a:t>For Smart Phone security chip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Copyright © </a:t>
            </a:r>
            <a:r>
              <a:rPr lang="en-US" altLang="zh-TW" dirty="0" err="1" smtClean="0"/>
              <a:t>MediaTek</a:t>
            </a:r>
            <a:r>
              <a:rPr lang="en-US" altLang="zh-TW" dirty="0" smtClean="0"/>
              <a:t> Inc. All rights reserved.</a:t>
            </a:r>
            <a:endParaRPr lang="en-US" altLang="zh-TW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5</a:t>
            </a:fld>
            <a:endParaRPr lang="en-US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-24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Special setting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642918"/>
            <a:ext cx="8786842" cy="5572164"/>
          </a:xfrm>
        </p:spPr>
        <p:txBody>
          <a:bodyPr/>
          <a:lstStyle/>
          <a:p>
            <a:pPr marL="342900" lvl="1" indent="-342900">
              <a:spcBef>
                <a:spcPct val="50000"/>
              </a:spcBef>
              <a:buClr>
                <a:srgbClr val="ED6D00"/>
              </a:buClr>
              <a:buFont typeface="Arial" pitchFamily="34" charset="0"/>
              <a:buChar char="▪"/>
            </a:pPr>
            <a:r>
              <a:rPr lang="en-US" altLang="zh-CN" dirty="0" smtClean="0">
                <a:solidFill>
                  <a:srgbClr val="0070C0"/>
                </a:solidFill>
                <a:cs typeface="+mn-cs"/>
              </a:rPr>
              <a:t>SN Tool Menu - BT&amp;IMEI 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chemeClr val="tx2"/>
                </a:solidFill>
              </a:rPr>
              <a:t>Check Sum</a:t>
            </a:r>
          </a:p>
          <a:p>
            <a:pPr lvl="2"/>
            <a:r>
              <a:rPr lang="en-US" altLang="zh-CN" sz="1400" dirty="0" smtClean="0">
                <a:solidFill>
                  <a:schemeClr val="tx2"/>
                </a:solidFill>
              </a:rPr>
              <a:t>Enable IMEI checksum mechanism, the last IMEI bit will be calculate and replace</a:t>
            </a:r>
          </a:p>
          <a:p>
            <a:pPr lvl="2">
              <a:buNone/>
            </a:pPr>
            <a:r>
              <a:rPr lang="en-US" altLang="zh-CN" sz="1400" dirty="0" smtClean="0">
                <a:solidFill>
                  <a:schemeClr val="tx2"/>
                </a:solidFill>
              </a:rPr>
              <a:t> last bit get from UI. Ex, UI input ‘</a:t>
            </a:r>
            <a:r>
              <a:rPr lang="en-US" altLang="zh-CN" sz="1400" dirty="0" smtClean="0">
                <a:solidFill>
                  <a:srgbClr val="0070C0"/>
                </a:solidFill>
              </a:rPr>
              <a:t>1111 1111 1111 111</a:t>
            </a:r>
            <a:r>
              <a:rPr lang="en-US" altLang="zh-CN" sz="1400" dirty="0" smtClean="0">
                <a:solidFill>
                  <a:schemeClr val="tx2"/>
                </a:solidFill>
              </a:rPr>
              <a:t>’ will be replace by </a:t>
            </a:r>
          </a:p>
          <a:p>
            <a:pPr lvl="2">
              <a:buNone/>
            </a:pPr>
            <a:r>
              <a:rPr lang="en-US" altLang="zh-CN" sz="1400" dirty="0" smtClean="0">
                <a:solidFill>
                  <a:schemeClr val="tx2"/>
                </a:solidFill>
              </a:rPr>
              <a:t>‘</a:t>
            </a:r>
            <a:r>
              <a:rPr lang="en-US" altLang="zh-CN" sz="1400" dirty="0" smtClean="0">
                <a:solidFill>
                  <a:srgbClr val="0070C0"/>
                </a:solidFill>
              </a:rPr>
              <a:t>1111 1111 1111 11</a:t>
            </a:r>
            <a:r>
              <a:rPr lang="en-US" altLang="zh-CN" sz="1400" dirty="0" smtClean="0">
                <a:solidFill>
                  <a:srgbClr val="FF0000"/>
                </a:solidFill>
              </a:rPr>
              <a:t>9</a:t>
            </a:r>
            <a:r>
              <a:rPr lang="en-US" altLang="zh-CN" sz="1400" dirty="0" smtClean="0">
                <a:solidFill>
                  <a:srgbClr val="0070C0"/>
                </a:solidFill>
              </a:rPr>
              <a:t> </a:t>
            </a:r>
            <a:r>
              <a:rPr lang="en-US" altLang="zh-CN" sz="1400" dirty="0" smtClean="0">
                <a:solidFill>
                  <a:schemeClr val="tx2"/>
                </a:solidFill>
              </a:rPr>
              <a:t>’, the ‘</a:t>
            </a:r>
            <a:r>
              <a:rPr lang="en-US" altLang="zh-CN" sz="1400" dirty="0" smtClean="0">
                <a:solidFill>
                  <a:srgbClr val="FF0000"/>
                </a:solidFill>
              </a:rPr>
              <a:t>9</a:t>
            </a:r>
            <a:r>
              <a:rPr lang="en-US" altLang="zh-CN" sz="1400" dirty="0" smtClean="0">
                <a:solidFill>
                  <a:schemeClr val="tx2"/>
                </a:solidFill>
              </a:rPr>
              <a:t>’ is the checksum bit.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chemeClr val="tx2"/>
                </a:solidFill>
              </a:rPr>
              <a:t> Lock IMEI</a:t>
            </a:r>
          </a:p>
          <a:p>
            <a:pPr lvl="2"/>
            <a:r>
              <a:rPr lang="en-US" altLang="zh-CN" sz="1400" dirty="0" smtClean="0">
                <a:solidFill>
                  <a:schemeClr val="tx2"/>
                </a:solidFill>
              </a:rPr>
              <a:t>if check the Lock IMEI, this mean the IMEI can </a:t>
            </a:r>
            <a:r>
              <a:rPr lang="en-US" altLang="zh-CN" sz="1400" dirty="0" smtClean="0">
                <a:solidFill>
                  <a:srgbClr val="FF0000"/>
                </a:solidFill>
              </a:rPr>
              <a:t>only write one time </a:t>
            </a:r>
            <a:r>
              <a:rPr lang="en-US" altLang="zh-CN" sz="1400" dirty="0" smtClean="0">
                <a:solidFill>
                  <a:schemeClr val="tx2"/>
                </a:solidFill>
              </a:rPr>
              <a:t>when current operator  is successfully. If you want to </a:t>
            </a:r>
            <a:r>
              <a:rPr lang="en-US" altLang="zh-CN" sz="1400" dirty="0" smtClean="0">
                <a:solidFill>
                  <a:srgbClr val="FF0000"/>
                </a:solidFill>
              </a:rPr>
              <a:t>rewrite IMEI again, you must Format FAT</a:t>
            </a:r>
            <a:r>
              <a:rPr lang="en-US" altLang="zh-CN" sz="1400" dirty="0" smtClean="0">
                <a:solidFill>
                  <a:schemeClr val="tx2"/>
                </a:solidFill>
              </a:rPr>
              <a:t>!!!</a:t>
            </a:r>
          </a:p>
          <a:p>
            <a:r>
              <a:rPr lang="en-US" altLang="zh-CN" sz="2000" dirty="0" smtClean="0">
                <a:solidFill>
                  <a:srgbClr val="0070C0"/>
                </a:solidFill>
              </a:rPr>
              <a:t>If  is </a:t>
            </a:r>
            <a:r>
              <a:rPr lang="en-US" altLang="zh-CN" sz="2000" dirty="0" smtClean="0">
                <a:solidFill>
                  <a:srgbClr val="FF0000"/>
                </a:solidFill>
              </a:rPr>
              <a:t>MT6582</a:t>
            </a:r>
            <a:r>
              <a:rPr lang="en-US" altLang="zh-CN" sz="2000" dirty="0" smtClean="0">
                <a:solidFill>
                  <a:srgbClr val="0070C0"/>
                </a:solidFill>
              </a:rPr>
              <a:t> smart phone, modify </a:t>
            </a:r>
            <a:r>
              <a:rPr lang="en-US" altLang="zh-CN" sz="2000" dirty="0" smtClean="0">
                <a:solidFill>
                  <a:schemeClr val="tx2"/>
                </a:solidFill>
              </a:rPr>
              <a:t>SN_SETUP.txt</a:t>
            </a:r>
            <a:r>
              <a:rPr lang="en-US" altLang="zh-CN" sz="2000" dirty="0" smtClean="0">
                <a:solidFill>
                  <a:srgbClr val="0070C0"/>
                </a:solidFill>
              </a:rPr>
              <a:t>  in installation directory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chemeClr val="tx2"/>
                </a:solidFill>
              </a:rPr>
              <a:t>Is MT6582 World Phone </a:t>
            </a:r>
          </a:p>
          <a:p>
            <a:pPr lvl="2"/>
            <a:r>
              <a:rPr lang="en-US" altLang="zh-CN" sz="1400" dirty="0" smtClean="0">
                <a:solidFill>
                  <a:srgbClr val="FF0000"/>
                </a:solidFill>
              </a:rPr>
              <a:t>True: </a:t>
            </a:r>
            <a:r>
              <a:rPr lang="en-US" altLang="zh-CN" sz="1400" dirty="0" smtClean="0">
                <a:solidFill>
                  <a:schemeClr val="tx2"/>
                </a:solidFill>
              </a:rPr>
              <a:t>for MT6582 smart phone</a:t>
            </a:r>
          </a:p>
          <a:p>
            <a:pPr lvl="2"/>
            <a:r>
              <a:rPr lang="en-US" altLang="zh-CN" sz="1400" dirty="0" smtClean="0">
                <a:solidFill>
                  <a:srgbClr val="00B050"/>
                </a:solidFill>
              </a:rPr>
              <a:t>False: </a:t>
            </a:r>
            <a:r>
              <a:rPr lang="en-US" altLang="zh-CN" sz="1400" dirty="0" smtClean="0">
                <a:solidFill>
                  <a:schemeClr val="tx2"/>
                </a:solidFill>
              </a:rPr>
              <a:t>for another without world phone </a:t>
            </a:r>
            <a:r>
              <a:rPr lang="en-US" altLang="zh-CN" sz="1400" smtClean="0">
                <a:solidFill>
                  <a:schemeClr val="tx2"/>
                </a:solidFill>
              </a:rPr>
              <a:t>feature </a:t>
            </a:r>
            <a:r>
              <a:rPr lang="en-US" altLang="zh-CN" sz="1400" smtClean="0">
                <a:solidFill>
                  <a:schemeClr val="tx2"/>
                </a:solidFill>
              </a:rPr>
              <a:t>platform</a:t>
            </a:r>
            <a:r>
              <a:rPr lang="en-US" altLang="zh-CN" sz="1400" dirty="0" smtClean="0">
                <a:solidFill>
                  <a:schemeClr val="tx2"/>
                </a:solidFill>
              </a:rPr>
              <a:t>, include feature phone</a:t>
            </a:r>
            <a:endParaRPr lang="en-US" altLang="zh-CN" sz="1400" dirty="0" smtClean="0">
              <a:solidFill>
                <a:schemeClr val="tx2"/>
              </a:solidFill>
            </a:endParaRP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chemeClr val="tx2"/>
                </a:solidFill>
              </a:rPr>
              <a:t>World Phone MD Index</a:t>
            </a:r>
          </a:p>
          <a:p>
            <a:pPr lvl="2"/>
            <a:r>
              <a:rPr lang="en-US" altLang="zh-CN" sz="1400" dirty="0" smtClean="0">
                <a:solidFill>
                  <a:srgbClr val="FF0000"/>
                </a:solidFill>
              </a:rPr>
              <a:t>1</a:t>
            </a:r>
            <a:r>
              <a:rPr lang="en-US" altLang="zh-CN" sz="1400" dirty="0" smtClean="0">
                <a:solidFill>
                  <a:schemeClr val="tx2"/>
                </a:solidFill>
              </a:rPr>
              <a:t>: Enable Modem</a:t>
            </a:r>
            <a:r>
              <a:rPr lang="en-US" altLang="zh-CN" sz="1400" dirty="0" smtClean="0">
                <a:solidFill>
                  <a:srgbClr val="FF0000"/>
                </a:solidFill>
              </a:rPr>
              <a:t>1</a:t>
            </a:r>
            <a:r>
              <a:rPr lang="en-US" altLang="zh-CN" sz="1400" dirty="0" smtClean="0">
                <a:solidFill>
                  <a:schemeClr val="tx2"/>
                </a:solidFill>
              </a:rPr>
              <a:t> when boot up</a:t>
            </a:r>
          </a:p>
          <a:p>
            <a:pPr lvl="2"/>
            <a:r>
              <a:rPr lang="en-US" altLang="zh-CN" sz="1400" dirty="0" smtClean="0">
                <a:solidFill>
                  <a:srgbClr val="00B050"/>
                </a:solidFill>
              </a:rPr>
              <a:t>2</a:t>
            </a:r>
            <a:r>
              <a:rPr lang="en-US" altLang="zh-CN" sz="1400" dirty="0" smtClean="0">
                <a:solidFill>
                  <a:schemeClr val="tx2"/>
                </a:solidFill>
              </a:rPr>
              <a:t>: Enable Modem</a:t>
            </a:r>
            <a:r>
              <a:rPr lang="en-US" altLang="zh-CN" sz="1400" dirty="0" smtClean="0">
                <a:solidFill>
                  <a:srgbClr val="00B050"/>
                </a:solidFill>
              </a:rPr>
              <a:t>2</a:t>
            </a:r>
            <a:r>
              <a:rPr lang="en-US" altLang="zh-CN" sz="1400" dirty="0" smtClean="0">
                <a:solidFill>
                  <a:schemeClr val="tx2"/>
                </a:solidFill>
              </a:rPr>
              <a:t> when boot up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chemeClr val="tx2"/>
                </a:solidFill>
              </a:rPr>
              <a:t>World Phone SW Version</a:t>
            </a:r>
          </a:p>
          <a:p>
            <a:pPr lvl="2"/>
            <a:r>
              <a:rPr lang="en-US" altLang="zh-CN" sz="1600" dirty="0" smtClean="0">
                <a:solidFill>
                  <a:schemeClr val="tx2"/>
                </a:solidFill>
              </a:rPr>
              <a:t> </a:t>
            </a:r>
            <a:r>
              <a:rPr lang="en-US" altLang="zh-CN" sz="1400" dirty="0" smtClean="0">
                <a:solidFill>
                  <a:srgbClr val="FF0000"/>
                </a:solidFill>
              </a:rPr>
              <a:t>3 : </a:t>
            </a:r>
            <a:r>
              <a:rPr lang="en-US" altLang="zh-CN" sz="1400" dirty="0" smtClean="0">
                <a:solidFill>
                  <a:schemeClr val="tx2"/>
                </a:solidFill>
              </a:rPr>
              <a:t>WCDMA phone</a:t>
            </a:r>
          </a:p>
          <a:p>
            <a:pPr lvl="2"/>
            <a:r>
              <a:rPr lang="en-US" altLang="zh-CN" sz="1400" dirty="0" smtClean="0">
                <a:solidFill>
                  <a:srgbClr val="00B050"/>
                </a:solidFill>
              </a:rPr>
              <a:t> 5 : </a:t>
            </a:r>
            <a:r>
              <a:rPr lang="en-US" altLang="zh-CN" sz="1400" dirty="0" smtClean="0">
                <a:solidFill>
                  <a:schemeClr val="tx2"/>
                </a:solidFill>
              </a:rPr>
              <a:t>TDD phone</a:t>
            </a:r>
          </a:p>
          <a:p>
            <a:endParaRPr lang="en-US" altLang="zh-CN" sz="1200" dirty="0" smtClean="0">
              <a:solidFill>
                <a:schemeClr val="tx2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Copyright © </a:t>
            </a:r>
            <a:r>
              <a:rPr lang="en-US" altLang="zh-TW" dirty="0" err="1" smtClean="0"/>
              <a:t>MediaTek</a:t>
            </a:r>
            <a:r>
              <a:rPr lang="en-US" altLang="zh-TW" dirty="0" smtClean="0"/>
              <a:t> Inc. All rights reserved.</a:t>
            </a:r>
            <a:endParaRPr lang="en-US" altLang="zh-TW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New SN Tool UI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214422"/>
            <a:ext cx="3903615" cy="49545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285728"/>
            <a:ext cx="8467756" cy="658813"/>
          </a:xfrm>
        </p:spPr>
        <p:txBody>
          <a:bodyPr/>
          <a:lstStyle/>
          <a:p>
            <a:r>
              <a:rPr lang="en-US" altLang="zh-CN" dirty="0" smtClean="0"/>
              <a:t>SN Tool new main panel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1266844"/>
            <a:ext cx="4106779" cy="4876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 bwMode="auto">
          <a:xfrm>
            <a:off x="571472" y="1857364"/>
            <a:ext cx="2428892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rtlCol="0">
            <a:spAutoFit/>
          </a:bodyPr>
          <a:lstStyle/>
          <a:p>
            <a:pPr eaLnBrk="0" hangingPunct="0"/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Old SN Tool</a:t>
            </a:r>
            <a:endParaRPr lang="zh-CN" alt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5572132" y="1928802"/>
            <a:ext cx="2428892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rtlCol="0">
            <a:spAutoFit/>
          </a:bodyPr>
          <a:lstStyle/>
          <a:p>
            <a:pPr eaLnBrk="0" hangingPunct="0"/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New SN Tool</a:t>
            </a:r>
            <a:endParaRPr lang="zh-CN" alt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乘号 15"/>
          <p:cNvSpPr/>
          <p:nvPr/>
        </p:nvSpPr>
        <p:spPr bwMode="auto">
          <a:xfrm>
            <a:off x="1285852" y="3214686"/>
            <a:ext cx="1428760" cy="1571636"/>
          </a:xfrm>
          <a:prstGeom prst="mathMultiply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942" y="1214422"/>
            <a:ext cx="3929058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126981"/>
            <a:ext cx="8059738" cy="658813"/>
          </a:xfrm>
        </p:spPr>
        <p:txBody>
          <a:bodyPr/>
          <a:lstStyle/>
          <a:p>
            <a:pPr lvl="1"/>
            <a:r>
              <a:rPr lang="en-US" altLang="zh-CN" dirty="0" smtClean="0"/>
              <a:t>New UI Modify Item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06" y="857232"/>
            <a:ext cx="8786875" cy="5305446"/>
          </a:xfrm>
        </p:spPr>
        <p:txBody>
          <a:bodyPr/>
          <a:lstStyle/>
          <a:p>
            <a:r>
              <a:rPr lang="en-US" altLang="zh-CN" sz="2000" dirty="0" smtClean="0">
                <a:solidFill>
                  <a:srgbClr val="0070C0"/>
                </a:solidFill>
              </a:rPr>
              <a:t>Add menu – “Identify”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rgbClr val="00B050"/>
                </a:solidFill>
              </a:rPr>
              <a:t>Engineer :</a:t>
            </a:r>
            <a:r>
              <a:rPr lang="en-US" altLang="zh-CN" sz="1800" dirty="0" smtClean="0"/>
              <a:t> Login in engineer mode</a:t>
            </a:r>
          </a:p>
          <a:p>
            <a:pPr lvl="2"/>
            <a:r>
              <a:rPr lang="en-US" altLang="zh-CN" sz="1600" dirty="0" smtClean="0"/>
              <a:t>Can Modify UI configuration</a:t>
            </a:r>
          </a:p>
          <a:p>
            <a:pPr lvl="2"/>
            <a:r>
              <a:rPr lang="en-US" altLang="zh-CN" sz="1600" dirty="0" smtClean="0"/>
              <a:t>Switch To operator don`t need password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zh-CN" sz="1800" dirty="0" smtClean="0">
                <a:solidFill>
                  <a:srgbClr val="00B050"/>
                </a:solidFill>
              </a:rPr>
              <a:t>Operator :</a:t>
            </a:r>
            <a:r>
              <a:rPr lang="en-US" altLang="zh-CN" sz="1800" dirty="0" smtClean="0"/>
              <a:t> </a:t>
            </a:r>
            <a:r>
              <a:rPr lang="en-US" altLang="zh-CN" sz="1800" dirty="0" smtClean="0">
                <a:solidFill>
                  <a:schemeClr val="accent4"/>
                </a:solidFill>
              </a:rPr>
              <a:t>Login in operator mode</a:t>
            </a:r>
          </a:p>
          <a:p>
            <a:pPr lvl="2"/>
            <a:r>
              <a:rPr lang="en-US" altLang="zh-CN" sz="1600" dirty="0" smtClean="0"/>
              <a:t>No authority modify UI configuration</a:t>
            </a:r>
          </a:p>
          <a:p>
            <a:pPr lvl="2"/>
            <a:r>
              <a:rPr lang="en-US" altLang="zh-CN" sz="1600" dirty="0" smtClean="0"/>
              <a:t>Switch to engineer mode need password</a:t>
            </a:r>
          </a:p>
          <a:p>
            <a:r>
              <a:rPr lang="en-US" altLang="zh-CN" sz="2000" dirty="0" smtClean="0">
                <a:solidFill>
                  <a:srgbClr val="0070C0"/>
                </a:solidFill>
              </a:rPr>
              <a:t>Add button – “System </a:t>
            </a:r>
            <a:r>
              <a:rPr lang="en-US" altLang="zh-CN" sz="2000" dirty="0" err="1" smtClean="0">
                <a:solidFill>
                  <a:srgbClr val="0070C0"/>
                </a:solidFill>
              </a:rPr>
              <a:t>Config</a:t>
            </a:r>
            <a:r>
              <a:rPr lang="en-US" altLang="zh-CN" sz="2000" dirty="0" smtClean="0">
                <a:solidFill>
                  <a:srgbClr val="0070C0"/>
                </a:solidFill>
              </a:rPr>
              <a:t>”</a:t>
            </a:r>
          </a:p>
          <a:p>
            <a:pPr lvl="1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600" dirty="0" smtClean="0">
                <a:solidFill>
                  <a:schemeClr val="tx2"/>
                </a:solidFill>
              </a:rPr>
              <a:t>Setup write barcode</a:t>
            </a:r>
            <a:r>
              <a:rPr lang="zh-CN" altLang="en-US" sz="1600" dirty="0" smtClean="0">
                <a:solidFill>
                  <a:schemeClr val="tx2"/>
                </a:solidFill>
              </a:rPr>
              <a:t>、</a:t>
            </a:r>
            <a:r>
              <a:rPr lang="en-US" altLang="zh-CN" sz="1600" dirty="0" smtClean="0">
                <a:solidFill>
                  <a:schemeClr val="tx2"/>
                </a:solidFill>
              </a:rPr>
              <a:t>IMEI</a:t>
            </a:r>
            <a:r>
              <a:rPr lang="zh-CN" altLang="en-US" sz="1600" dirty="0" smtClean="0">
                <a:solidFill>
                  <a:schemeClr val="tx2"/>
                </a:solidFill>
              </a:rPr>
              <a:t>、</a:t>
            </a:r>
            <a:r>
              <a:rPr lang="en-US" altLang="zh-CN" sz="1600" dirty="0" smtClean="0">
                <a:solidFill>
                  <a:schemeClr val="tx2"/>
                </a:solidFill>
              </a:rPr>
              <a:t>BT</a:t>
            </a:r>
            <a:r>
              <a:rPr lang="zh-CN" altLang="en-US" sz="1600" dirty="0" smtClean="0">
                <a:solidFill>
                  <a:schemeClr val="tx2"/>
                </a:solidFill>
              </a:rPr>
              <a:t>、</a:t>
            </a:r>
            <a:r>
              <a:rPr lang="en-US" altLang="zh-CN" sz="1600" dirty="0" smtClean="0">
                <a:solidFill>
                  <a:schemeClr val="tx2"/>
                </a:solidFill>
              </a:rPr>
              <a:t>Wi-Fi option</a:t>
            </a:r>
          </a:p>
          <a:p>
            <a:pPr lvl="1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600" dirty="0" smtClean="0">
                <a:solidFill>
                  <a:schemeClr val="tx2"/>
                </a:solidFill>
              </a:rPr>
              <a:t>Setup the database files</a:t>
            </a:r>
          </a:p>
          <a:p>
            <a:r>
              <a:rPr lang="en-US" altLang="zh-CN" sz="2000" dirty="0" smtClean="0">
                <a:solidFill>
                  <a:srgbClr val="0070C0"/>
                </a:solidFill>
              </a:rPr>
              <a:t>Move some select option to menu</a:t>
            </a:r>
          </a:p>
          <a:p>
            <a:pPr lvl="1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600" dirty="0" smtClean="0">
                <a:solidFill>
                  <a:schemeClr val="tx2"/>
                </a:solidFill>
              </a:rPr>
              <a:t>AT or Meta mode select  </a:t>
            </a:r>
            <a:r>
              <a:rPr lang="en-US" altLang="zh-CN" sz="1600" dirty="0" smtClean="0">
                <a:solidFill>
                  <a:schemeClr val="tx2"/>
                </a:solidFill>
                <a:sym typeface="Wingdings" pitchFamily="2" charset="2"/>
              </a:rPr>
              <a:t> ‘ Option’</a:t>
            </a:r>
            <a:endParaRPr lang="en-US" altLang="zh-CN" sz="1600" dirty="0" smtClean="0">
              <a:solidFill>
                <a:schemeClr val="tx2"/>
              </a:solidFill>
            </a:endParaRPr>
          </a:p>
          <a:p>
            <a:pPr lvl="1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600" dirty="0" err="1" smtClean="0">
                <a:solidFill>
                  <a:schemeClr val="tx2"/>
                </a:solidFill>
              </a:rPr>
              <a:t>Hdcp</a:t>
            </a:r>
            <a:r>
              <a:rPr lang="zh-CN" altLang="en-US" sz="1600" dirty="0" smtClean="0">
                <a:solidFill>
                  <a:schemeClr val="tx2"/>
                </a:solidFill>
              </a:rPr>
              <a:t>、</a:t>
            </a:r>
            <a:r>
              <a:rPr lang="en-US" altLang="zh-CN" sz="1600" dirty="0" err="1" smtClean="0">
                <a:solidFill>
                  <a:schemeClr val="tx2"/>
                </a:solidFill>
              </a:rPr>
              <a:t>DRMKey</a:t>
            </a:r>
            <a:r>
              <a:rPr lang="en-US" altLang="zh-CN" sz="1600" dirty="0" smtClean="0">
                <a:solidFill>
                  <a:schemeClr val="tx2"/>
                </a:solidFill>
              </a:rPr>
              <a:t> file select </a:t>
            </a:r>
            <a:r>
              <a:rPr lang="en-US" altLang="zh-CN" sz="1600" dirty="0" smtClean="0">
                <a:solidFill>
                  <a:schemeClr val="tx2"/>
                </a:solidFill>
                <a:sym typeface="Wingdings" pitchFamily="2" charset="2"/>
              </a:rPr>
              <a:t> ‘ </a:t>
            </a:r>
            <a:r>
              <a:rPr lang="en-US" altLang="zh-CN" sz="1600" dirty="0" err="1" smtClean="0">
                <a:solidFill>
                  <a:schemeClr val="tx2"/>
                </a:solidFill>
                <a:sym typeface="Wingdings" pitchFamily="2" charset="2"/>
              </a:rPr>
              <a:t>Hdcp&amp;Drmkey</a:t>
            </a:r>
            <a:r>
              <a:rPr lang="en-US" altLang="zh-CN" sz="1600" dirty="0" smtClean="0">
                <a:solidFill>
                  <a:schemeClr val="tx2"/>
                </a:solidFill>
                <a:sym typeface="Wingdings" pitchFamily="2" charset="2"/>
              </a:rPr>
              <a:t>’</a:t>
            </a:r>
            <a:endParaRPr lang="en-US" altLang="zh-CN" sz="1600" dirty="0" smtClean="0">
              <a:solidFill>
                <a:schemeClr val="tx2"/>
              </a:solidFill>
            </a:endParaRPr>
          </a:p>
          <a:p>
            <a:pPr lvl="1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600" dirty="0" err="1" smtClean="0">
                <a:solidFill>
                  <a:schemeClr val="tx2"/>
                </a:solidFill>
              </a:rPr>
              <a:t>Datacard</a:t>
            </a:r>
            <a:r>
              <a:rPr lang="zh-CN" altLang="en-US" sz="1600" dirty="0" smtClean="0">
                <a:solidFill>
                  <a:schemeClr val="tx2"/>
                </a:solidFill>
              </a:rPr>
              <a:t>、</a:t>
            </a:r>
            <a:r>
              <a:rPr lang="en-US" altLang="zh-CN" sz="1600" dirty="0" smtClean="0">
                <a:solidFill>
                  <a:schemeClr val="tx2"/>
                </a:solidFill>
              </a:rPr>
              <a:t>External Modem</a:t>
            </a:r>
            <a:r>
              <a:rPr lang="zh-CN" altLang="en-US" sz="1600" dirty="0" smtClean="0">
                <a:solidFill>
                  <a:schemeClr val="tx2"/>
                </a:solidFill>
              </a:rPr>
              <a:t>、</a:t>
            </a:r>
            <a:r>
              <a:rPr lang="en-US" altLang="zh-CN" sz="1600" dirty="0" smtClean="0">
                <a:solidFill>
                  <a:schemeClr val="tx2"/>
                </a:solidFill>
              </a:rPr>
              <a:t>SP Security USB</a:t>
            </a:r>
            <a:br>
              <a:rPr lang="en-US" altLang="zh-CN" sz="1600" dirty="0" smtClean="0">
                <a:solidFill>
                  <a:schemeClr val="tx2"/>
                </a:solidFill>
              </a:rPr>
            </a:br>
            <a:r>
              <a:rPr lang="en-US" altLang="zh-CN" sz="1600" dirty="0" smtClean="0">
                <a:solidFill>
                  <a:schemeClr val="tx2"/>
                </a:solidFill>
                <a:sym typeface="Wingdings" pitchFamily="2" charset="2"/>
              </a:rPr>
              <a:t> ‘Option’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  <p:sp>
        <p:nvSpPr>
          <p:cNvPr id="9" name="圆角矩形 8"/>
          <p:cNvSpPr/>
          <p:nvPr/>
        </p:nvSpPr>
        <p:spPr bwMode="auto">
          <a:xfrm>
            <a:off x="6967542" y="1304916"/>
            <a:ext cx="2209800" cy="838200"/>
          </a:xfrm>
          <a:prstGeom prst="roundRect">
            <a:avLst/>
          </a:prstGeom>
          <a:solidFill>
            <a:srgbClr val="FF0000">
              <a:alpha val="0"/>
            </a:srgbClr>
          </a:solidFill>
          <a:ln w="38100"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 bwMode="auto">
          <a:xfrm>
            <a:off x="5429256" y="4500570"/>
            <a:ext cx="1371600" cy="457200"/>
          </a:xfrm>
          <a:prstGeom prst="roundRect">
            <a:avLst/>
          </a:prstGeom>
          <a:solidFill>
            <a:srgbClr val="FF0000">
              <a:alpha val="0"/>
            </a:srgbClr>
          </a:solidFill>
          <a:ln w="38100"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7038" y="152400"/>
            <a:ext cx="8059738" cy="658813"/>
          </a:xfrm>
        </p:spPr>
        <p:txBody>
          <a:bodyPr/>
          <a:lstStyle/>
          <a:p>
            <a:pPr lvl="1"/>
            <a:r>
              <a:rPr lang="en-US" altLang="zh-CN" dirty="0" smtClean="0"/>
              <a:t>Engineer Mode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8435975" cy="5183188"/>
          </a:xfrm>
        </p:spPr>
        <p:txBody>
          <a:bodyPr/>
          <a:lstStyle/>
          <a:p>
            <a:r>
              <a:rPr lang="en-US" altLang="zh-CN" sz="2000" dirty="0" smtClean="0">
                <a:solidFill>
                  <a:srgbClr val="0070C0"/>
                </a:solidFill>
              </a:rPr>
              <a:t>Engineer Mode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Engineer mode use for setup all write option, such as select database file, setup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chemeClr val="tx2"/>
                </a:solidFill>
              </a:rPr>
              <a:t>head check string. The mode is the default login mode, The </a:t>
            </a:r>
            <a:r>
              <a:rPr lang="en-US" altLang="zh-CN" sz="1600" dirty="0" smtClean="0">
                <a:solidFill>
                  <a:srgbClr val="FF0000"/>
                </a:solidFill>
              </a:rPr>
              <a:t>default password is ‘0000’</a:t>
            </a:r>
            <a:r>
              <a:rPr lang="en-US" altLang="zh-CN" sz="1600" dirty="0" smtClean="0">
                <a:solidFill>
                  <a:schemeClr val="tx2"/>
                </a:solidFill>
              </a:rPr>
              <a:t>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Use the Menu – </a:t>
            </a:r>
            <a:r>
              <a:rPr lang="en-US" altLang="zh-CN" sz="1600" dirty="0" smtClean="0">
                <a:solidFill>
                  <a:srgbClr val="00B050"/>
                </a:solidFill>
              </a:rPr>
              <a:t>’Identity-&gt;Engineer-&gt;</a:t>
            </a:r>
            <a:r>
              <a:rPr lang="en-US" altLang="zh-CN" sz="1600" dirty="0" err="1" smtClean="0">
                <a:solidFill>
                  <a:srgbClr val="00B050"/>
                </a:solidFill>
              </a:rPr>
              <a:t>SwitchToOperator</a:t>
            </a:r>
            <a:r>
              <a:rPr lang="en-US" altLang="zh-CN" sz="1600" dirty="0" smtClean="0">
                <a:solidFill>
                  <a:srgbClr val="00B050"/>
                </a:solidFill>
              </a:rPr>
              <a:t>’ </a:t>
            </a:r>
            <a:r>
              <a:rPr lang="en-US" altLang="zh-CN" sz="1600" dirty="0" smtClean="0">
                <a:solidFill>
                  <a:schemeClr val="tx2"/>
                </a:solidFill>
              </a:rPr>
              <a:t>to switch to operator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chemeClr val="tx2"/>
                </a:solidFill>
              </a:rPr>
              <a:t>mode, don`t password.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chemeClr val="tx2"/>
                </a:solidFill>
              </a:rPr>
              <a:t>    </a:t>
            </a:r>
          </a:p>
          <a:p>
            <a:pPr lvl="1">
              <a:buClr>
                <a:srgbClr val="00B050"/>
              </a:buClr>
              <a:buNone/>
            </a:pPr>
            <a:endParaRPr lang="en-US" altLang="zh-CN" sz="1600" dirty="0" smtClean="0">
              <a:solidFill>
                <a:schemeClr val="tx2"/>
              </a:solidFill>
            </a:endParaRPr>
          </a:p>
          <a:p>
            <a:pPr lvl="1">
              <a:buClr>
                <a:srgbClr val="00B050"/>
              </a:buClr>
              <a:buNone/>
            </a:pPr>
            <a:endParaRPr lang="en-US" altLang="zh-CN" sz="1600" dirty="0" smtClean="0">
              <a:solidFill>
                <a:schemeClr val="tx2"/>
              </a:solidFill>
            </a:endParaRP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Use the Menu – </a:t>
            </a:r>
            <a:r>
              <a:rPr lang="en-US" altLang="zh-CN" sz="1600" dirty="0" smtClean="0">
                <a:solidFill>
                  <a:srgbClr val="00B050"/>
                </a:solidFill>
              </a:rPr>
              <a:t>’Identity-&gt; Engineer-&gt; </a:t>
            </a:r>
            <a:r>
              <a:rPr lang="en-US" altLang="zh-CN" sz="1600" dirty="0" err="1" smtClean="0">
                <a:solidFill>
                  <a:srgbClr val="00B050"/>
                </a:solidFill>
              </a:rPr>
              <a:t>ChangePasswd</a:t>
            </a:r>
            <a:r>
              <a:rPr lang="en-US" altLang="zh-CN" sz="1600" dirty="0" smtClean="0">
                <a:solidFill>
                  <a:srgbClr val="00B050"/>
                </a:solidFill>
              </a:rPr>
              <a:t>’ </a:t>
            </a:r>
            <a:r>
              <a:rPr lang="en-US" altLang="zh-CN" sz="1600" dirty="0" smtClean="0">
                <a:solidFill>
                  <a:schemeClr val="tx2"/>
                </a:solidFill>
              </a:rPr>
              <a:t>to modify the engineer password.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495800"/>
            <a:ext cx="30003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2362200"/>
            <a:ext cx="2676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3886200"/>
            <a:ext cx="248602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右箭头 7"/>
          <p:cNvSpPr/>
          <p:nvPr/>
        </p:nvSpPr>
        <p:spPr bwMode="auto">
          <a:xfrm>
            <a:off x="4267200" y="4953000"/>
            <a:ext cx="1143000" cy="304800"/>
          </a:xfrm>
          <a:prstGeom prst="rightArrow">
            <a:avLst>
              <a:gd name="adj1" fmla="val 50000"/>
              <a:gd name="adj2" fmla="val 96342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7038" y="152400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Operator Mode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8435975" cy="5183188"/>
          </a:xfrm>
        </p:spPr>
        <p:txBody>
          <a:bodyPr/>
          <a:lstStyle/>
          <a:p>
            <a:pPr marL="342900" lvl="1" indent="-342900">
              <a:spcBef>
                <a:spcPct val="50000"/>
              </a:spcBef>
              <a:buClr>
                <a:srgbClr val="ED6D00"/>
              </a:buClr>
              <a:buFont typeface="Arial" pitchFamily="34" charset="0"/>
              <a:buChar char="▪"/>
            </a:pPr>
            <a:r>
              <a:rPr lang="en-US" altLang="zh-CN" dirty="0" smtClean="0">
                <a:solidFill>
                  <a:srgbClr val="0070C0"/>
                </a:solidFill>
              </a:rPr>
              <a:t>Operator Mode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Operator mode have no authority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modify UI configuration. 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This mode only have select </a:t>
            </a:r>
            <a:r>
              <a:rPr lang="en-US" altLang="zh-CN" sz="1600" dirty="0" err="1" smtClean="0">
                <a:solidFill>
                  <a:schemeClr val="tx2"/>
                </a:solidFill>
              </a:rPr>
              <a:t>comPort</a:t>
            </a:r>
            <a:endParaRPr lang="en-US" altLang="zh-CN" sz="1600" dirty="0" smtClean="0">
              <a:solidFill>
                <a:schemeClr val="tx2"/>
              </a:solidFill>
            </a:endParaRPr>
          </a:p>
          <a:p>
            <a:pPr lvl="1">
              <a:buClr>
                <a:schemeClr val="tx2"/>
              </a:buClr>
              <a:buNone/>
            </a:pPr>
            <a:r>
              <a:rPr lang="en-US" altLang="zh-CN" sz="1600" dirty="0" smtClean="0"/>
              <a:t> num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click Quit and Start button authority.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/>
              <a:t>‘</a:t>
            </a:r>
            <a:r>
              <a:rPr lang="en-US" altLang="zh-CN" sz="1600" dirty="0" smtClean="0">
                <a:solidFill>
                  <a:srgbClr val="00B050"/>
                </a:solidFill>
              </a:rPr>
              <a:t>Identify-&gt;Operator-&gt;</a:t>
            </a:r>
            <a:r>
              <a:rPr lang="en-US" altLang="zh-CN" sz="1600" dirty="0" err="1" smtClean="0">
                <a:solidFill>
                  <a:srgbClr val="00B050"/>
                </a:solidFill>
              </a:rPr>
              <a:t>SwitchToEngineer</a:t>
            </a:r>
            <a:r>
              <a:rPr lang="en-US" altLang="zh-CN" sz="1600" dirty="0" smtClean="0"/>
              <a:t>’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chemeClr val="tx2"/>
                </a:solidFill>
              </a:rPr>
              <a:t>Switch to engineer mode, need input the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chemeClr val="tx2"/>
                </a:solidFill>
              </a:rPr>
              <a:t>correct engineer password.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2" y="857232"/>
            <a:ext cx="4000528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1828800"/>
            <a:ext cx="275272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71414"/>
            <a:ext cx="8563004" cy="658813"/>
          </a:xfrm>
        </p:spPr>
        <p:txBody>
          <a:bodyPr/>
          <a:lstStyle/>
          <a:p>
            <a:r>
              <a:rPr lang="en-US" altLang="zh-CN" dirty="0" smtClean="0"/>
              <a:t>System </a:t>
            </a:r>
            <a:r>
              <a:rPr lang="en-US" altLang="zh-CN" dirty="0" err="1" smtClean="0"/>
              <a:t>config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714356"/>
            <a:ext cx="8715436" cy="5572164"/>
          </a:xfrm>
        </p:spPr>
        <p:txBody>
          <a:bodyPr/>
          <a:lstStyle/>
          <a:p>
            <a:r>
              <a:rPr lang="en-US" altLang="zh-CN" sz="2000" dirty="0" smtClean="0">
                <a:solidFill>
                  <a:srgbClr val="0070C0"/>
                </a:solidFill>
              </a:rPr>
              <a:t>Function Select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The option is about which type data</a:t>
            </a:r>
          </a:p>
          <a:p>
            <a:pPr lvl="1">
              <a:buClr>
                <a:schemeClr val="tx2"/>
              </a:buClr>
              <a:buNone/>
            </a:pPr>
            <a:r>
              <a:rPr lang="en-US" altLang="zh-CN" sz="1600" dirty="0" smtClean="0"/>
              <a:t>will be write to target at one time. Ex,</a:t>
            </a:r>
          </a:p>
          <a:p>
            <a:pPr lvl="1">
              <a:buNone/>
            </a:pPr>
            <a:r>
              <a:rPr lang="en-US" altLang="zh-CN" sz="1600" dirty="0" smtClean="0"/>
              <a:t> if select IMEI&amp;BT, you can write IMEI </a:t>
            </a:r>
          </a:p>
          <a:p>
            <a:pPr lvl="1">
              <a:buNone/>
            </a:pPr>
            <a:r>
              <a:rPr lang="en-US" altLang="zh-CN" sz="1600" dirty="0" smtClean="0"/>
              <a:t>and BT address to target at one time. </a:t>
            </a:r>
          </a:p>
          <a:p>
            <a:pPr marL="342900" lvl="1" indent="-342900">
              <a:spcBef>
                <a:spcPct val="50000"/>
              </a:spcBef>
              <a:buClr>
                <a:srgbClr val="ED6D00"/>
              </a:buClr>
              <a:buFont typeface="Arial" pitchFamily="34" charset="0"/>
              <a:buChar char="▪"/>
            </a:pPr>
            <a:r>
              <a:rPr lang="en-US" altLang="zh-CN" dirty="0" smtClean="0">
                <a:solidFill>
                  <a:srgbClr val="0070C0"/>
                </a:solidFill>
                <a:cs typeface="+mn-cs"/>
              </a:rPr>
              <a:t>Header Option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For you </a:t>
            </a:r>
            <a:r>
              <a:rPr lang="en-US" altLang="zh-CN" sz="1600" dirty="0" smtClean="0">
                <a:solidFill>
                  <a:srgbClr val="FF0000"/>
                </a:solidFill>
              </a:rPr>
              <a:t>want to check the scan data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rgbClr val="FF0000"/>
                </a:solidFill>
              </a:rPr>
              <a:t>is valid or not</a:t>
            </a:r>
            <a:r>
              <a:rPr lang="en-US" altLang="zh-CN" sz="1600" dirty="0" smtClean="0"/>
              <a:t>, turn on the header check.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Ex, if barcode previous 4bits must “1234”,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turn on check barcode header, and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configuration the barcode header string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is “1234”.</a:t>
            </a:r>
          </a:p>
          <a:p>
            <a:pPr marL="342900" lvl="1" indent="-342900">
              <a:spcBef>
                <a:spcPct val="50000"/>
              </a:spcBef>
              <a:buClr>
                <a:srgbClr val="ED6D00"/>
              </a:buClr>
              <a:buFont typeface="Arial" pitchFamily="34" charset="0"/>
              <a:buChar char="▪"/>
            </a:pPr>
            <a:r>
              <a:rPr lang="en-US" altLang="zh-CN" dirty="0" smtClean="0">
                <a:solidFill>
                  <a:srgbClr val="0070C0"/>
                </a:solidFill>
                <a:cs typeface="+mn-cs"/>
              </a:rPr>
              <a:t>IMEI Option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IMEI special option</a:t>
            </a:r>
          </a:p>
          <a:p>
            <a:pPr marL="342900" lvl="1" indent="-342900">
              <a:spcBef>
                <a:spcPct val="50000"/>
              </a:spcBef>
              <a:buClr>
                <a:srgbClr val="ED6D00"/>
              </a:buClr>
              <a:buFont typeface="Arial" pitchFamily="34" charset="0"/>
              <a:buChar char="▪"/>
            </a:pPr>
            <a:r>
              <a:rPr lang="en-US" altLang="zh-CN" dirty="0" smtClean="0">
                <a:solidFill>
                  <a:srgbClr val="0070C0"/>
                </a:solidFill>
                <a:cs typeface="+mn-cs"/>
              </a:rPr>
              <a:t>Data Base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Select database files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19618" y="785794"/>
            <a:ext cx="4624414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New scan data dialog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8435975" cy="5183188"/>
          </a:xfrm>
        </p:spPr>
        <p:txBody>
          <a:bodyPr/>
          <a:lstStyle/>
          <a:p>
            <a:r>
              <a:rPr lang="en-US" altLang="zh-CN" sz="2000" dirty="0" smtClean="0">
                <a:solidFill>
                  <a:srgbClr val="0070C0"/>
                </a:solidFill>
              </a:rPr>
              <a:t>Scan Data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Enable the edit control option </a:t>
            </a:r>
            <a:r>
              <a:rPr lang="en-US" altLang="zh-CN" sz="1600" dirty="0" smtClean="0"/>
              <a:t>base on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what do you select in the configuration panel.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If </a:t>
            </a:r>
            <a:r>
              <a:rPr lang="en-US" altLang="zh-CN" sz="1600" dirty="0" smtClean="0">
                <a:solidFill>
                  <a:srgbClr val="FF0000"/>
                </a:solidFill>
              </a:rPr>
              <a:t>Header check is turn on</a:t>
            </a:r>
            <a:r>
              <a:rPr lang="en-US" altLang="zh-CN" sz="1600" dirty="0" smtClean="0"/>
              <a:t>, the corresponding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/>
              <a:t>header string will show on edit control tail.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The current scan data will be highlight.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The edit control don`t need scan again </a:t>
            </a:r>
            <a:r>
              <a:rPr lang="en-US" altLang="zh-CN" sz="1600" dirty="0" smtClean="0"/>
              <a:t>when</a:t>
            </a:r>
            <a:r>
              <a:rPr lang="en-US" altLang="zh-CN" sz="1600" dirty="0" smtClean="0">
                <a:solidFill>
                  <a:srgbClr val="FF0000"/>
                </a:solidFill>
              </a:rPr>
              <a:t>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rgbClr val="FF0000"/>
                </a:solidFill>
              </a:rPr>
              <a:t>scan data finish and header check pass</a:t>
            </a:r>
            <a:r>
              <a:rPr lang="en-US" altLang="zh-CN" sz="1600" dirty="0" smtClean="0">
                <a:solidFill>
                  <a:schemeClr val="tx2"/>
                </a:solidFill>
              </a:rPr>
              <a:t>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When finish scan all data and click ‘OK’,</a:t>
            </a:r>
          </a:p>
          <a:p>
            <a:pPr lvl="1">
              <a:buNone/>
            </a:pPr>
            <a:r>
              <a:rPr lang="en-US" altLang="zh-CN" sz="1600" dirty="0" smtClean="0"/>
              <a:t>tool will check all data is valid or not. </a:t>
            </a:r>
            <a:r>
              <a:rPr lang="en-US" altLang="zh-CN" sz="1600" dirty="0" smtClean="0">
                <a:solidFill>
                  <a:srgbClr val="FF0000"/>
                </a:solidFill>
              </a:rPr>
              <a:t>If the</a:t>
            </a:r>
          </a:p>
          <a:p>
            <a:pPr lvl="1">
              <a:buNone/>
            </a:pPr>
            <a:r>
              <a:rPr lang="en-US" altLang="zh-CN" sz="1600" dirty="0" smtClean="0">
                <a:solidFill>
                  <a:srgbClr val="FF0000"/>
                </a:solidFill>
              </a:rPr>
              <a:t> data is invalid, corresponding edit control</a:t>
            </a:r>
          </a:p>
          <a:p>
            <a:pPr lvl="1">
              <a:buNone/>
            </a:pPr>
            <a:r>
              <a:rPr lang="en-US" altLang="zh-CN" sz="1600" dirty="0" smtClean="0">
                <a:solidFill>
                  <a:srgbClr val="FF0000"/>
                </a:solidFill>
              </a:rPr>
              <a:t> will be highlight</a:t>
            </a:r>
            <a:r>
              <a:rPr lang="en-US" altLang="zh-CN" sz="1600" dirty="0" smtClean="0"/>
              <a:t>.</a:t>
            </a:r>
          </a:p>
          <a:p>
            <a:pPr lvl="1">
              <a:buClr>
                <a:srgbClr val="00B050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solidFill>
                  <a:schemeClr val="tx2"/>
                </a:solidFill>
              </a:rPr>
              <a:t>When finish one write flow, this panel </a:t>
            </a:r>
          </a:p>
          <a:p>
            <a:pPr lvl="1">
              <a:buClr>
                <a:srgbClr val="00B050"/>
              </a:buClr>
              <a:buNone/>
            </a:pPr>
            <a:r>
              <a:rPr lang="en-US" altLang="zh-CN" sz="1600" dirty="0" smtClean="0">
                <a:solidFill>
                  <a:schemeClr val="tx2"/>
                </a:solidFill>
              </a:rPr>
              <a:t>will be </a:t>
            </a:r>
            <a:r>
              <a:rPr lang="en-US" altLang="zh-CN" sz="1600" dirty="0" smtClean="0"/>
              <a:t>show again.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4018" y="1000108"/>
            <a:ext cx="36957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SN Tool write procedure example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3" y="5072075"/>
            <a:ext cx="1214445" cy="928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42951"/>
            <a:ext cx="8858279" cy="5221306"/>
          </a:xfrm>
        </p:spPr>
        <p:txBody>
          <a:bodyPr/>
          <a:lstStyle/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comPort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– UART or USB VCOM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target type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FP/SP/</a:t>
            </a:r>
            <a:r>
              <a:rPr lang="en-US" altLang="zh-CN" sz="1400" dirty="0" err="1" smtClean="0">
                <a:ea typeface="微软雅黑" pitchFamily="34" charset="-122"/>
                <a:cs typeface="Times New Roman" pitchFamily="18" charset="0"/>
              </a:rPr>
              <a:t>Rndis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Dongle/…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write mode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MEAT mode /AT mode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click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System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Config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button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Function select – choose Barcode &amp; IMEI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Header option – if check data, turn it on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correct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database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files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8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Click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Start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to scan data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Insert cable make phone enter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META mode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If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Write Result Indicator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turn 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en-US" altLang="zh-CN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Green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mean write </a:t>
            </a:r>
            <a:r>
              <a:rPr lang="en-US" altLang="zh-CN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success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en-US" altLang="zh-CN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Red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mead write </a:t>
            </a:r>
            <a:r>
              <a:rPr lang="en-US" altLang="zh-CN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fail</a:t>
            </a: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306" y="5143512"/>
            <a:ext cx="11430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7620" y="3714752"/>
            <a:ext cx="29337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05625" y="4000504"/>
            <a:ext cx="22383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Barcode &amp; IMEI(Meta Mode)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  <p:sp>
        <p:nvSpPr>
          <p:cNvPr id="18" name="椭圆 17"/>
          <p:cNvSpPr/>
          <p:nvPr/>
        </p:nvSpPr>
        <p:spPr>
          <a:xfrm>
            <a:off x="7905757" y="442913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291254" y="478632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928934" y="5214950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86512" y="928670"/>
            <a:ext cx="27908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椭圆 22"/>
          <p:cNvSpPr/>
          <p:nvPr/>
        </p:nvSpPr>
        <p:spPr>
          <a:xfrm>
            <a:off x="8286776" y="192880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285720" y="4929198"/>
            <a:ext cx="857256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10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14810" y="928670"/>
            <a:ext cx="18288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椭圆 21"/>
          <p:cNvSpPr/>
          <p:nvPr/>
        </p:nvSpPr>
        <p:spPr>
          <a:xfrm>
            <a:off x="5786446" y="2143116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786446" y="1643050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786446" y="1142984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785917" y="514351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714480" y="5429264"/>
            <a:ext cx="571503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rtlCol="0">
            <a:spAutoFit/>
          </a:bodyPr>
          <a:lstStyle/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Enter </a:t>
            </a:r>
          </a:p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Meta </a:t>
            </a:r>
          </a:p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mode</a:t>
            </a:r>
            <a:endParaRPr lang="zh-CN" altLang="en-US" sz="1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3786190"/>
            <a:ext cx="21431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42951"/>
            <a:ext cx="8858279" cy="5221306"/>
          </a:xfrm>
        </p:spPr>
        <p:txBody>
          <a:bodyPr/>
          <a:lstStyle/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comPort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– UART or USB VCOM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target type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FP/SP/</a:t>
            </a:r>
            <a:r>
              <a:rPr lang="en-US" altLang="zh-CN" sz="1400" dirty="0" err="1" smtClean="0">
                <a:ea typeface="微软雅黑" pitchFamily="34" charset="-122"/>
                <a:cs typeface="Times New Roman" pitchFamily="18" charset="0"/>
              </a:rPr>
              <a:t>Rndis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Dongle/…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write mode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MEAT mode /AT mode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click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System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Config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button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Function select – choose </a:t>
            </a:r>
            <a:r>
              <a:rPr lang="en-US" altLang="zh-CN" sz="1400" dirty="0" err="1" smtClean="0">
                <a:ea typeface="微软雅黑" pitchFamily="34" charset="-122"/>
                <a:cs typeface="Times New Roman" pitchFamily="18" charset="0"/>
              </a:rPr>
              <a:t>Barc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/IMEI/BT/Wi-Fi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Header option – if check data, turn it on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correct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database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files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8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Click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Start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to scan data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Insert cable make phone enter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META mode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If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Write Result Indicator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turn 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en-US" altLang="zh-CN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Green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mean write </a:t>
            </a:r>
            <a:r>
              <a:rPr lang="en-US" altLang="zh-CN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success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en-US" altLang="zh-CN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Red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mead write </a:t>
            </a:r>
            <a:r>
              <a:rPr lang="en-US" altLang="zh-CN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fail</a:t>
            </a: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306" y="5143512"/>
            <a:ext cx="11430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7620" y="3714752"/>
            <a:ext cx="29337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Barcode / IMEI / BT / Wi-Fi(Meta Mode)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  <p:sp>
        <p:nvSpPr>
          <p:cNvPr id="18" name="椭圆 17"/>
          <p:cNvSpPr/>
          <p:nvPr/>
        </p:nvSpPr>
        <p:spPr>
          <a:xfrm>
            <a:off x="7905757" y="442913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291254" y="478632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928934" y="5214950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6512" y="928670"/>
            <a:ext cx="27908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椭圆 22"/>
          <p:cNvSpPr/>
          <p:nvPr/>
        </p:nvSpPr>
        <p:spPr>
          <a:xfrm>
            <a:off x="8286776" y="1928802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285720" y="4929198"/>
            <a:ext cx="857256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10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14810" y="928670"/>
            <a:ext cx="18288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椭圆 21"/>
          <p:cNvSpPr/>
          <p:nvPr/>
        </p:nvSpPr>
        <p:spPr>
          <a:xfrm>
            <a:off x="5786446" y="2143116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786446" y="1643050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786446" y="1142984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785917" y="5000636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714480" y="5286388"/>
            <a:ext cx="571503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rtlCol="0">
            <a:spAutoFit/>
          </a:bodyPr>
          <a:lstStyle/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Phone</a:t>
            </a:r>
          </a:p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Enter </a:t>
            </a:r>
          </a:p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Meta </a:t>
            </a:r>
          </a:p>
          <a:p>
            <a:pPr eaLnBrk="0" hangingPunct="0"/>
            <a:r>
              <a:rPr lang="en-US" altLang="zh-CN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mode</a:t>
            </a:r>
            <a:endParaRPr lang="zh-CN" altLang="en-US" sz="1000" dirty="0">
              <a:solidFill>
                <a:schemeClr val="tx2"/>
              </a:solidFill>
              <a:latin typeface="+mn-lt"/>
              <a:cs typeface="Courier New" pitchFamily="49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4282" y="5286388"/>
            <a:ext cx="11049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42951"/>
            <a:ext cx="8858279" cy="5221306"/>
          </a:xfrm>
        </p:spPr>
        <p:txBody>
          <a:bodyPr/>
          <a:lstStyle/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、选择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端口类型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UART 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或者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USB VCOM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、选择 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手机类型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FP/SP/</a:t>
            </a:r>
            <a:r>
              <a:rPr lang="en-US" altLang="zh-CN" sz="1400" dirty="0" err="1" smtClean="0">
                <a:ea typeface="微软雅黑" pitchFamily="34" charset="-122"/>
                <a:cs typeface="Times New Roman" pitchFamily="18" charset="0"/>
              </a:rPr>
              <a:t>Rndis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Dongle/…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、选择 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写号模式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MEAT mode /AT mode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、点击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‘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系统配置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按钮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写号类型选项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选择写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IMEI &amp; BT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头部检测功能选项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需要检测数据正确性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勾选‘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On/Off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’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按钮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、选择正确的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Database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文件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8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、点击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开始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按钮输入或扫描正确的数据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、插入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USB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或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UART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数据线，让手机进入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META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模式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、如果</a:t>
            </a:r>
            <a:r>
              <a:rPr lang="zh-CN" altLang="en-US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写操作结果指示器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变成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zh-CN" altLang="en-US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绿色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表示写操作</a:t>
            </a:r>
            <a:r>
              <a:rPr lang="zh-CN" altLang="en-US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成功</a:t>
            </a:r>
            <a:endParaRPr lang="en-US" altLang="zh-CN" sz="1400" dirty="0" smtClean="0">
              <a:solidFill>
                <a:srgbClr val="00B050"/>
              </a:solidFill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zh-CN" altLang="en-US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红色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  <a:cs typeface="Times New Roman" pitchFamily="18" charset="0"/>
              </a:rPr>
              <a:t>表示写操作</a:t>
            </a:r>
            <a:r>
              <a:rPr lang="zh-CN" altLang="en-US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失败</a:t>
            </a:r>
            <a:endParaRPr lang="en-US" altLang="zh-CN" sz="1400" dirty="0" smtClean="0">
              <a:solidFill>
                <a:srgbClr val="FF0000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059738" cy="658813"/>
          </a:xfrm>
        </p:spPr>
        <p:txBody>
          <a:bodyPr/>
          <a:lstStyle/>
          <a:p>
            <a:r>
              <a:rPr lang="en-US" altLang="zh-CN" dirty="0" smtClean="0"/>
              <a:t>IMEI / BT(Meta Mode)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  <p:grpSp>
        <p:nvGrpSpPr>
          <p:cNvPr id="27" name="组合 26"/>
          <p:cNvGrpSpPr/>
          <p:nvPr/>
        </p:nvGrpSpPr>
        <p:grpSpPr>
          <a:xfrm>
            <a:off x="6915150" y="3714752"/>
            <a:ext cx="2228850" cy="1981200"/>
            <a:chOff x="6915150" y="3714752"/>
            <a:chExt cx="2228850" cy="19812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915150" y="3714752"/>
              <a:ext cx="2228850" cy="198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" name="椭圆 17"/>
            <p:cNvSpPr/>
            <p:nvPr/>
          </p:nvSpPr>
          <p:spPr>
            <a:xfrm>
              <a:off x="7905757" y="4429132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5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857620" y="3743344"/>
            <a:ext cx="2914650" cy="2400300"/>
            <a:chOff x="3857620" y="3743344"/>
            <a:chExt cx="2914650" cy="24003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7620" y="3743344"/>
              <a:ext cx="2914650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椭圆 18"/>
            <p:cNvSpPr/>
            <p:nvPr/>
          </p:nvSpPr>
          <p:spPr>
            <a:xfrm>
              <a:off x="6291254" y="4786322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6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500306" y="5143512"/>
            <a:ext cx="1143000" cy="828675"/>
            <a:chOff x="2500306" y="5143512"/>
            <a:chExt cx="1143000" cy="828675"/>
          </a:xfrm>
        </p:grpSpPr>
        <p:pic>
          <p:nvPicPr>
            <p:cNvPr id="8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00306" y="5143512"/>
              <a:ext cx="1143000" cy="828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椭圆 20"/>
            <p:cNvSpPr/>
            <p:nvPr/>
          </p:nvSpPr>
          <p:spPr>
            <a:xfrm>
              <a:off x="2928934" y="5214950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8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286512" y="857232"/>
            <a:ext cx="2790825" cy="2105025"/>
            <a:chOff x="6286512" y="857232"/>
            <a:chExt cx="2790825" cy="2105025"/>
          </a:xfrm>
        </p:grpSpPr>
        <p:pic>
          <p:nvPicPr>
            <p:cNvPr id="3083" name="Picture 1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286512" y="857232"/>
              <a:ext cx="2790825" cy="210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3" name="椭圆 22"/>
            <p:cNvSpPr/>
            <p:nvPr/>
          </p:nvSpPr>
          <p:spPr>
            <a:xfrm>
              <a:off x="8286776" y="1857364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14283" y="4929198"/>
            <a:ext cx="1214445" cy="1071570"/>
            <a:chOff x="214283" y="4929198"/>
            <a:chExt cx="1214445" cy="1071570"/>
          </a:xfrm>
        </p:grpSpPr>
        <p:pic>
          <p:nvPicPr>
            <p:cNvPr id="10" name="Picture 1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14283" y="5072075"/>
              <a:ext cx="1214445" cy="928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4" name="椭圆 23"/>
            <p:cNvSpPr/>
            <p:nvPr/>
          </p:nvSpPr>
          <p:spPr>
            <a:xfrm>
              <a:off x="285720" y="4929198"/>
              <a:ext cx="857256" cy="3571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10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214810" y="857232"/>
            <a:ext cx="1928826" cy="1590675"/>
            <a:chOff x="4214810" y="857232"/>
            <a:chExt cx="1928826" cy="1590675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214810" y="857232"/>
              <a:ext cx="1828800" cy="159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椭圆 21"/>
            <p:cNvSpPr/>
            <p:nvPr/>
          </p:nvSpPr>
          <p:spPr>
            <a:xfrm>
              <a:off x="5786446" y="2071678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4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5786446" y="1571612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786446" y="1071546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椭圆 28"/>
          <p:cNvSpPr/>
          <p:nvPr/>
        </p:nvSpPr>
        <p:spPr>
          <a:xfrm>
            <a:off x="1785917" y="5000636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643042" y="5303894"/>
            <a:ext cx="714380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rtlCol="0">
            <a:spAutoFit/>
          </a:bodyPr>
          <a:lstStyle/>
          <a:p>
            <a:pPr eaLnBrk="0" hangingPunct="0"/>
            <a:r>
              <a:rPr lang="zh-CN" altLang="en-US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手机开机进</a:t>
            </a:r>
            <a:r>
              <a:rPr lang="en-US" altLang="zh-CN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META </a:t>
            </a:r>
            <a:r>
              <a:rPr lang="zh-CN" altLang="en-US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模式</a:t>
            </a:r>
            <a:endParaRPr lang="zh-CN" altLang="en-US" sz="1000" dirty="0">
              <a:solidFill>
                <a:schemeClr val="tx2"/>
              </a:solidFill>
              <a:latin typeface="+mn-lt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内容占位符 26"/>
          <p:cNvSpPr>
            <a:spLocks noGrp="1"/>
          </p:cNvSpPr>
          <p:nvPr>
            <p:ph idx="1"/>
          </p:nvPr>
        </p:nvSpPr>
        <p:spPr>
          <a:xfrm>
            <a:off x="214282" y="785794"/>
            <a:ext cx="8786874" cy="5429288"/>
          </a:xfrm>
        </p:spPr>
        <p:txBody>
          <a:bodyPr/>
          <a:lstStyle/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comPort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– UART or USB VCOM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target type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– FP/SP/</a:t>
            </a:r>
            <a:r>
              <a:rPr lang="en-US" altLang="zh-CN" sz="1400" dirty="0" err="1" smtClean="0">
                <a:ea typeface="微软雅黑" pitchFamily="34" charset="-122"/>
                <a:cs typeface="Times New Roman" pitchFamily="18" charset="0"/>
              </a:rPr>
              <a:t>Rndis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Dongle/…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write HDCP &amp; DRM Key Install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Hdcp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 Bin File &amp;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DRMKey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 File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click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System </a:t>
            </a:r>
            <a:r>
              <a:rPr lang="en-US" altLang="zh-CN" sz="1400" dirty="0" err="1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Config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button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select correct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AP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database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file for write </a:t>
            </a:r>
            <a:r>
              <a:rPr lang="en-US" altLang="zh-CN" sz="1400" dirty="0" err="1" smtClean="0">
                <a:ea typeface="微软雅黑" pitchFamily="34" charset="-122"/>
                <a:cs typeface="Times New Roman" pitchFamily="18" charset="0"/>
              </a:rPr>
              <a:t>Hdcp</a:t>
            </a:r>
            <a:endParaRPr lang="en-US" altLang="zh-CN" sz="1400" dirty="0" smtClean="0"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Click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Start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 to write data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8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Insert UART/USB cable make phone enter ‘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META mode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’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en-US" sz="1400" dirty="0" smtClean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If </a:t>
            </a:r>
            <a:r>
              <a:rPr lang="en-US" altLang="zh-CN" sz="1400" dirty="0" smtClean="0">
                <a:solidFill>
                  <a:srgbClr val="0070C0"/>
                </a:solidFill>
                <a:ea typeface="微软雅黑" pitchFamily="34" charset="-122"/>
                <a:cs typeface="Times New Roman" pitchFamily="18" charset="0"/>
              </a:rPr>
              <a:t>Write Result Indicator 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turn 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en-US" altLang="zh-CN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Green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mean write </a:t>
            </a:r>
            <a:r>
              <a:rPr lang="en-US" altLang="zh-CN" sz="1400" dirty="0" smtClean="0">
                <a:solidFill>
                  <a:srgbClr val="00B050"/>
                </a:solidFill>
                <a:ea typeface="微软雅黑" pitchFamily="34" charset="-122"/>
                <a:cs typeface="Times New Roman" pitchFamily="18" charset="0"/>
              </a:rPr>
              <a:t>success</a:t>
            </a:r>
          </a:p>
          <a:p>
            <a:pPr>
              <a:buNone/>
            </a:pP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   - </a:t>
            </a:r>
            <a:r>
              <a:rPr lang="en-US" altLang="zh-CN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Red</a:t>
            </a:r>
            <a:r>
              <a:rPr lang="en-US" altLang="zh-CN" sz="1400" dirty="0" smtClean="0">
                <a:ea typeface="微软雅黑" pitchFamily="34" charset="-122"/>
                <a:cs typeface="Times New Roman" pitchFamily="18" charset="0"/>
              </a:rPr>
              <a:t>  mead write </a:t>
            </a:r>
            <a:r>
              <a:rPr lang="en-US" altLang="zh-CN" sz="1400" dirty="0" smtClean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fail</a:t>
            </a:r>
          </a:p>
          <a:p>
            <a:endParaRPr lang="zh-CN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20" y="3571876"/>
            <a:ext cx="51911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928670"/>
            <a:ext cx="18288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00892" y="957256"/>
            <a:ext cx="155257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55543"/>
            <a:ext cx="8059738" cy="658813"/>
          </a:xfrm>
        </p:spPr>
        <p:txBody>
          <a:bodyPr/>
          <a:lstStyle/>
          <a:p>
            <a:pPr lvl="1"/>
            <a:r>
              <a:rPr lang="en-US" altLang="zh-CN" dirty="0" err="1" smtClean="0"/>
              <a:t>Hdcp</a:t>
            </a:r>
            <a:r>
              <a:rPr lang="en-US" altLang="zh-CN" dirty="0" smtClean="0"/>
              <a:t> &amp; </a:t>
            </a:r>
            <a:r>
              <a:rPr lang="en-US" altLang="zh-CN" dirty="0" err="1" smtClean="0"/>
              <a:t>Drm</a:t>
            </a:r>
            <a:r>
              <a:rPr lang="en-US" altLang="zh-CN" dirty="0" smtClean="0"/>
              <a:t> key(Meta Mode)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DC7C1D-31A2-472C-B66A-E60BF5DAF3D8}" type="datetime1">
              <a:rPr lang="ja-JP" altLang="en-US" smtClean="0"/>
              <a:pPr>
                <a:defRPr/>
              </a:pPr>
              <a:t>2013/9/11</a:t>
            </a:fld>
            <a:endParaRPr lang="en-US" altLang="ja-JP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3FC1B-DA4C-494A-BD87-4CCBFBFB0D54}" type="slidenum">
              <a:rPr lang="en-US" altLang="ja-JP" smtClean="0"/>
              <a:pPr>
                <a:defRPr/>
              </a:pPr>
              <a:t>18</a:t>
            </a:fld>
            <a:endParaRPr lang="en-US" altLang="ja-JP"/>
          </a:p>
        </p:txBody>
      </p:sp>
      <p:sp>
        <p:nvSpPr>
          <p:cNvPr id="20" name="椭圆 25"/>
          <p:cNvSpPr/>
          <p:nvPr/>
        </p:nvSpPr>
        <p:spPr>
          <a:xfrm>
            <a:off x="8001024" y="1171570"/>
            <a:ext cx="357193" cy="30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椭圆 25"/>
          <p:cNvSpPr/>
          <p:nvPr/>
        </p:nvSpPr>
        <p:spPr>
          <a:xfrm>
            <a:off x="3786182" y="3643314"/>
            <a:ext cx="357190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215074" y="2143116"/>
            <a:ext cx="357190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6215074" y="1643050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6215074" y="1142984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643306" y="4714884"/>
            <a:ext cx="1143000" cy="828675"/>
            <a:chOff x="2500306" y="5143512"/>
            <a:chExt cx="1143000" cy="828675"/>
          </a:xfrm>
        </p:grpSpPr>
        <p:pic>
          <p:nvPicPr>
            <p:cNvPr id="34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00306" y="5143512"/>
              <a:ext cx="1143000" cy="828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5" name="椭圆 34"/>
            <p:cNvSpPr/>
            <p:nvPr/>
          </p:nvSpPr>
          <p:spPr>
            <a:xfrm>
              <a:off x="2857488" y="5143512"/>
              <a:ext cx="357190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858016" y="4572008"/>
            <a:ext cx="1214445" cy="1071569"/>
            <a:chOff x="2571736" y="4714884"/>
            <a:chExt cx="1214445" cy="1071569"/>
          </a:xfrm>
        </p:grpSpPr>
        <p:pic>
          <p:nvPicPr>
            <p:cNvPr id="37" name="Picture 1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571736" y="4857760"/>
              <a:ext cx="1214445" cy="928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8" name="椭圆 37"/>
            <p:cNvSpPr/>
            <p:nvPr/>
          </p:nvSpPr>
          <p:spPr>
            <a:xfrm>
              <a:off x="2928894" y="4714884"/>
              <a:ext cx="500066" cy="3571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9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39" name="椭圆 38"/>
          <p:cNvSpPr/>
          <p:nvPr/>
        </p:nvSpPr>
        <p:spPr>
          <a:xfrm>
            <a:off x="5715009" y="4714884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5572133" y="5018142"/>
            <a:ext cx="857255" cy="40011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rtlCol="0">
            <a:spAutoFit/>
          </a:bodyPr>
          <a:lstStyle/>
          <a:p>
            <a:pPr eaLnBrk="0" hangingPunct="0"/>
            <a:r>
              <a:rPr lang="zh-CN" altLang="en-US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手机开机进</a:t>
            </a:r>
            <a:r>
              <a:rPr lang="en-US" altLang="zh-CN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META </a:t>
            </a:r>
            <a:r>
              <a:rPr lang="zh-CN" altLang="en-US" sz="1000" dirty="0" smtClean="0">
                <a:solidFill>
                  <a:schemeClr val="tx2"/>
                </a:solidFill>
                <a:latin typeface="+mn-lt"/>
                <a:cs typeface="Courier New" pitchFamily="49" charset="0"/>
              </a:rPr>
              <a:t>模式</a:t>
            </a:r>
            <a:endParaRPr lang="zh-CN" altLang="en-US" sz="1000" dirty="0">
              <a:solidFill>
                <a:schemeClr val="tx2"/>
              </a:solidFill>
              <a:latin typeface="+mn-lt"/>
              <a:cs typeface="Courier New" pitchFamily="49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000892" y="1785926"/>
            <a:ext cx="1500198" cy="1543050"/>
            <a:chOff x="5929322" y="1857364"/>
            <a:chExt cx="1500198" cy="154305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00760" y="1857364"/>
              <a:ext cx="1390650" cy="1543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5" name="圆角矩形 24"/>
            <p:cNvSpPr/>
            <p:nvPr/>
          </p:nvSpPr>
          <p:spPr bwMode="auto">
            <a:xfrm>
              <a:off x="5929322" y="2857496"/>
              <a:ext cx="1500198" cy="42862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0" name="椭圆 29"/>
          <p:cNvSpPr/>
          <p:nvPr/>
        </p:nvSpPr>
        <p:spPr>
          <a:xfrm>
            <a:off x="8072462" y="2428868"/>
            <a:ext cx="357190" cy="285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How to debug when write fail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1B8C7-489E-4921-92FD-94EB1C5D2F8A}" type="datetime1">
              <a:rPr lang="ja-JP" altLang="en-US"/>
              <a:pPr/>
              <a:t>2013/9/11</a:t>
            </a:fld>
            <a:endParaRPr lang="en-US" altLang="ja-JP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© MediaTek Inc. All rights reserved.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D0C08-6EA8-4538-8DA3-5B60935E926F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>
          <a:xfrm>
            <a:off x="214282" y="500042"/>
            <a:ext cx="8748745" cy="5578497"/>
          </a:xfrm>
        </p:spPr>
        <p:txBody>
          <a:bodyPr/>
          <a:lstStyle/>
          <a:p>
            <a:pPr>
              <a:buNone/>
            </a:pPr>
            <a:r>
              <a:rPr lang="en-US" altLang="zh-CN" sz="1800" dirty="0" smtClean="0">
                <a:solidFill>
                  <a:srgbClr val="0070C0"/>
                </a:solidFill>
              </a:rPr>
              <a:t>1</a:t>
            </a:r>
            <a:r>
              <a:rPr lang="zh-CN" altLang="en-US" sz="1800" dirty="0" smtClean="0">
                <a:solidFill>
                  <a:srgbClr val="0070C0"/>
                </a:solidFill>
              </a:rPr>
              <a:t>、</a:t>
            </a:r>
            <a:r>
              <a:rPr lang="en-US" altLang="zh-CN" sz="1800" dirty="0" smtClean="0">
                <a:solidFill>
                  <a:srgbClr val="0070C0"/>
                </a:solidFill>
              </a:rPr>
              <a:t>How  to debug  when the operator fail?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400" dirty="0" smtClean="0"/>
              <a:t>-- </a:t>
            </a:r>
            <a:r>
              <a:rPr lang="en-US" altLang="zh-CN" sz="1400" dirty="0" smtClean="0">
                <a:solidFill>
                  <a:schemeClr val="tx1"/>
                </a:solidFill>
              </a:rPr>
              <a:t>Actually all operator log information display on the main UI  </a:t>
            </a:r>
          </a:p>
          <a:p>
            <a:pPr>
              <a:buNone/>
            </a:pPr>
            <a:endParaRPr lang="en-US" altLang="zh-CN" sz="1600" dirty="0" smtClean="0"/>
          </a:p>
          <a:p>
            <a:pPr>
              <a:buNone/>
            </a:pPr>
            <a:endParaRPr lang="en-US" altLang="zh-CN" sz="1600" dirty="0" smtClean="0"/>
          </a:p>
          <a:p>
            <a:pPr>
              <a:buNone/>
            </a:pPr>
            <a:endParaRPr lang="en-US" altLang="zh-CN" sz="1600" dirty="0" smtClean="0"/>
          </a:p>
          <a:p>
            <a:pPr>
              <a:lnSpc>
                <a:spcPct val="150000"/>
              </a:lnSpc>
              <a:buNone/>
            </a:pPr>
            <a:endParaRPr lang="en-US" altLang="zh-CN" sz="1800" dirty="0" smtClean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800" dirty="0" smtClean="0">
                <a:solidFill>
                  <a:srgbClr val="0070C0"/>
                </a:solidFill>
              </a:rPr>
              <a:t>2</a:t>
            </a:r>
            <a:r>
              <a:rPr lang="zh-CN" altLang="en-US" sz="1800" dirty="0" smtClean="0">
                <a:solidFill>
                  <a:srgbClr val="0070C0"/>
                </a:solidFill>
              </a:rPr>
              <a:t>、</a:t>
            </a:r>
            <a:r>
              <a:rPr lang="en-US" altLang="zh-CN" sz="1800" dirty="0" smtClean="0">
                <a:solidFill>
                  <a:srgbClr val="0070C0"/>
                </a:solidFill>
              </a:rPr>
              <a:t>If  you want to get help from MTK, what information should I provide?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400" dirty="0" smtClean="0"/>
              <a:t>--  </a:t>
            </a:r>
            <a:r>
              <a:rPr lang="en-US" altLang="zh-CN" sz="1400" dirty="0" smtClean="0">
                <a:solidFill>
                  <a:schemeClr val="tx1"/>
                </a:solidFill>
              </a:rPr>
              <a:t>As the No.1 refer , you can provide the UI Log and the META_DLL.log file,</a:t>
            </a:r>
            <a:br>
              <a:rPr lang="en-US" altLang="zh-CN" sz="1400" dirty="0" smtClean="0">
                <a:solidFill>
                  <a:schemeClr val="tx1"/>
                </a:solidFill>
              </a:rPr>
            </a:br>
            <a:r>
              <a:rPr lang="en-US" altLang="zh-CN" sz="1400" dirty="0" smtClean="0">
                <a:solidFill>
                  <a:schemeClr val="tx1"/>
                </a:solidFill>
              </a:rPr>
              <a:t>and the META_DLL.log file path default is “C:\”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</a:rPr>
              <a:t>       --  If Smart Phone, SP_META_DLL.log also need.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142984"/>
            <a:ext cx="3105143" cy="1609725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TK_PPT">
  <a:themeElements>
    <a:clrScheme name="Internal Us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ternal Use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/>
      <a:lstStyle>
        <a:defPPr>
          <a:defRPr dirty="0"/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0">
          <a:noFill/>
          <a:miter lim="800000"/>
          <a:headEnd/>
          <a:tailEnd/>
        </a:ln>
      </a:spPr>
      <a:bodyPr vert="eaVert"/>
      <a:lstStyle>
        <a:defPPr eaLnBrk="0" hangingPunct="0">
          <a:defRPr sz="800" dirty="0">
            <a:solidFill>
              <a:srgbClr val="0000FF"/>
            </a:solidFill>
            <a:latin typeface="Courier New" pitchFamily="49" charset="0"/>
            <a:cs typeface="Courier New" pitchFamily="49" charset="0"/>
          </a:defRPr>
        </a:defPPr>
      </a:lstStyle>
    </a:txDef>
  </a:objectDefaults>
  <a:extraClrSchemeLst>
    <a:extraClrScheme>
      <a:clrScheme name="Internal Us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l Us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l Us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l Us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l Us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l Us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l Us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l Us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l Us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l Us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l Us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l Us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MTK_PPT</Template>
  <TotalTime>1931</TotalTime>
  <Words>1736</Words>
  <Application>Microsoft Office PowerPoint</Application>
  <PresentationFormat>全屏显示(4:3)</PresentationFormat>
  <Paragraphs>293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MTK_PPT</vt:lpstr>
      <vt:lpstr>SN Tool Introduce</vt:lpstr>
      <vt:lpstr>Agenda</vt:lpstr>
      <vt:lpstr>SN write option introduce</vt:lpstr>
      <vt:lpstr>Barcode、IMEI、BT Address 、Wi-Fi Mac Address</vt:lpstr>
      <vt:lpstr>Hdcp &amp; Drm key</vt:lpstr>
      <vt:lpstr>Special setting</vt:lpstr>
      <vt:lpstr>Special setting</vt:lpstr>
      <vt:lpstr>New SN Tool UI</vt:lpstr>
      <vt:lpstr>SN Tool new main panel</vt:lpstr>
      <vt:lpstr>New UI Modify Item </vt:lpstr>
      <vt:lpstr>Engineer Mode</vt:lpstr>
      <vt:lpstr>Operator Mode</vt:lpstr>
      <vt:lpstr>System config</vt:lpstr>
      <vt:lpstr>New scan data dialog</vt:lpstr>
      <vt:lpstr>SN Tool write procedure example</vt:lpstr>
      <vt:lpstr>Barcode &amp; IMEI(Meta Mode)</vt:lpstr>
      <vt:lpstr>Barcode / IMEI / BT / Wi-Fi(Meta Mode)</vt:lpstr>
      <vt:lpstr>IMEI / BT(Meta Mode)</vt:lpstr>
      <vt:lpstr>Hdcp &amp; Drm key(Meta Mode)</vt:lpstr>
      <vt:lpstr>How to debug when write fail</vt:lpstr>
      <vt:lpstr>幻灯片 20</vt:lpstr>
    </vt:vector>
  </TitlesOfParts>
  <Company>MediaTek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 Tool Introduce</dc:title>
  <dc:creator>mtk71518</dc:creator>
  <cp:lastModifiedBy>mtk71518</cp:lastModifiedBy>
  <cp:revision>117</cp:revision>
  <dcterms:created xsi:type="dcterms:W3CDTF">2013-07-15T08:50:21Z</dcterms:created>
  <dcterms:modified xsi:type="dcterms:W3CDTF">2013-09-11T06:38:58Z</dcterms:modified>
</cp:coreProperties>
</file>